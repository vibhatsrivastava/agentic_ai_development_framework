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Agentic AI for Development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Automating GitHub Issue Management with Intelligent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Challenge: Development teams spend significant time manually triaging GitHub issues</a:t>
            </a:r>
          </a:p>
          <a:p>
            <a:pPr lvl="1">
              <a:spcBef>
                <a:spcPts val="600"/>
              </a:spcBef>
              <a:defRPr sz="1600"/>
            </a:pPr>
            <a:r>
              <a:t>Reading through issue backlogs and comment threads</a:t>
            </a:r>
          </a:p>
          <a:p>
            <a:pPr lvl="1">
              <a:spcBef>
                <a:spcPts val="600"/>
              </a:spcBef>
              <a:defRPr sz="1600"/>
            </a:pPr>
            <a:r>
              <a:t>Understanding context for unfamiliar issues</a:t>
            </a:r>
          </a:p>
          <a:p>
            <a:pPr lvl="1">
              <a:spcBef>
                <a:spcPts val="600"/>
              </a:spcBef>
              <a:defRPr sz="1600"/>
            </a:pPr>
            <a:r>
              <a:t>Identifying root causes and implementation approaches</a:t>
            </a:r>
          </a:p>
          <a:p>
            <a:pPr>
              <a:spcBef>
                <a:spcPts val="600"/>
              </a:spcBef>
              <a:defRPr sz="1800"/>
            </a:pPr>
            <a:r>
              <a:t>Solution: AI-powered agent that automates issue reporting and provides intelligent recommendations</a:t>
            </a:r>
          </a:p>
          <a:p>
            <a:pPr>
              <a:spcBef>
                <a:spcPts val="600"/>
              </a:spcBef>
              <a:defRPr sz="1800"/>
            </a:pPr>
            <a:r>
              <a:t>Benefits:</a:t>
            </a:r>
          </a:p>
          <a:p>
            <a:pPr lvl="1">
              <a:spcBef>
                <a:spcPts val="600"/>
              </a:spcBef>
              <a:defRPr sz="1600"/>
            </a:pPr>
            <a:r>
              <a:t>75% reduction in issue triage time</a:t>
            </a:r>
          </a:p>
          <a:p>
            <a:pPr lvl="1">
              <a:spcBef>
                <a:spcPts val="600"/>
              </a:spcBef>
              <a:defRPr sz="1600"/>
            </a:pPr>
            <a:r>
              <a:t>Faster onboarding for new developers</a:t>
            </a:r>
          </a:p>
          <a:p>
            <a:pPr lvl="1">
              <a:spcBef>
                <a:spcPts val="600"/>
              </a:spcBef>
              <a:defRPr sz="1600"/>
            </a:pPr>
            <a:r>
              <a:t>Data-driven prioritization based on issue age and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Problem: Manual Issue Management is Time-Consuming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Development teams face significant challenges:</a:t>
            </a:r>
          </a:p>
          <a:p>
            <a:pPr lvl="1">
              <a:spcBef>
                <a:spcPts val="600"/>
              </a:spcBef>
              <a:defRPr sz="1600"/>
            </a:pPr>
            <a:r>
              <a:t>Manual effort: Clicking through GitHub UI to audit issue backlogs</a:t>
            </a:r>
          </a:p>
          <a:p>
            <a:pPr lvl="1">
              <a:spcBef>
                <a:spcPts val="600"/>
              </a:spcBef>
              <a:defRPr sz="1600"/>
            </a:pPr>
            <a:r>
              <a:t>Context switching: Reading long issue threads to understand problems</a:t>
            </a:r>
          </a:p>
          <a:p>
            <a:pPr lvl="1">
              <a:spcBef>
                <a:spcPts val="600"/>
              </a:spcBef>
              <a:defRPr sz="1600"/>
            </a:pPr>
            <a:r>
              <a:t>Knowledge gaps: New team members struggle with unfamiliar codebases</a:t>
            </a:r>
          </a:p>
          <a:p>
            <a:pPr lvl="1">
              <a:spcBef>
                <a:spcPts val="600"/>
              </a:spcBef>
              <a:defRPr sz="1600"/>
            </a:pPr>
            <a:r>
              <a:t>Prioritization: Difficult to identify stale or high-priority issues</a:t>
            </a:r>
          </a:p>
          <a:p>
            <a:pPr>
              <a:spcBef>
                <a:spcPts val="600"/>
              </a:spcBef>
              <a:defRPr sz="1800"/>
            </a:pPr>
            <a:r>
              <a:t>Impact on productivity:</a:t>
            </a:r>
          </a:p>
          <a:p>
            <a:pPr lvl="1">
              <a:spcBef>
                <a:spcPts val="600"/>
              </a:spcBef>
              <a:defRPr sz="1600"/>
            </a:pPr>
            <a:r>
              <a:t>30-45 minutes daily spent on issue management per developer</a:t>
            </a:r>
          </a:p>
          <a:p>
            <a:pPr lvl="1">
              <a:spcBef>
                <a:spcPts val="600"/>
              </a:spcBef>
              <a:defRPr sz="1600"/>
            </a:pPr>
            <a:r>
              <a:t>Delayed response to critical bugs</a:t>
            </a:r>
          </a:p>
          <a:p>
            <a:pPr lvl="1">
              <a:spcBef>
                <a:spcPts val="600"/>
              </a:spcBef>
              <a:defRPr sz="1600"/>
            </a:pPr>
            <a:r>
              <a:t>Inconsistent issue handling across team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Solution: Agentic AI Issue Reporter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Two operational modes:</a:t>
            </a:r>
          </a:p>
          <a:p>
            <a:pPr lvl="1">
              <a:spcBef>
                <a:spcPts val="600"/>
              </a:spcBef>
              <a:defRPr sz="1600"/>
            </a:pPr>
            <a:r>
              <a:t>Report Mode: Comprehensive snapshot of all open issues</a:t>
            </a:r>
          </a:p>
          <a:p>
            <a:pPr lvl="1">
              <a:spcBef>
                <a:spcPts val="600"/>
              </a:spcBef>
              <a:defRPr sz="1600"/>
            </a:pPr>
            <a:r>
              <a:t>Recommendation Mode: AI-powered analysis and solution guidance</a:t>
            </a:r>
          </a:p>
          <a:p>
            <a:pPr>
              <a:spcBef>
                <a:spcPts val="600"/>
              </a:spcBef>
              <a:defRPr sz="1800"/>
            </a:pPr>
            <a:r>
              <a:t>Technical architecture:</a:t>
            </a:r>
          </a:p>
          <a:p>
            <a:pPr lvl="1">
              <a:spcBef>
                <a:spcPts val="600"/>
              </a:spcBef>
              <a:defRPr sz="1600"/>
            </a:pPr>
            <a:r>
              <a:t>LangGraph ReAct pattern for intelligent tool orchestration</a:t>
            </a:r>
          </a:p>
          <a:p>
            <a:pPr lvl="1">
              <a:spcBef>
                <a:spcPts val="600"/>
              </a:spcBef>
              <a:defRPr sz="1600"/>
            </a:pPr>
            <a:r>
              <a:t>Local LLM via Ollama (privacy-first, no data leaves infrastructure)</a:t>
            </a:r>
          </a:p>
          <a:p>
            <a:pPr lvl="1">
              <a:spcBef>
                <a:spcPts val="600"/>
              </a:spcBef>
              <a:defRPr sz="1600"/>
            </a:pPr>
            <a:r>
              <a:t>GitHub REST API integration for real-time data</a:t>
            </a:r>
          </a:p>
          <a:p>
            <a:pPr lvl="1">
              <a:spcBef>
                <a:spcPts val="600"/>
              </a:spcBef>
              <a:defRPr sz="1600"/>
            </a:pPr>
            <a:r>
              <a:t>Secure token management with rate limiting</a:t>
            </a:r>
          </a:p>
          <a:p>
            <a:pPr>
              <a:spcBef>
                <a:spcPts val="600"/>
              </a:spcBef>
              <a:defRPr sz="1800"/>
            </a:pPr>
            <a:r>
              <a:t>Key features:</a:t>
            </a:r>
          </a:p>
          <a:p>
            <a:pPr lvl="1">
              <a:spcBef>
                <a:spcPts val="600"/>
              </a:spcBef>
              <a:defRPr sz="1600"/>
            </a:pPr>
            <a:r>
              <a:t>Automated pagination (handles up to 200 issues)</a:t>
            </a:r>
          </a:p>
          <a:p>
            <a:pPr lvl="1">
              <a:spcBef>
                <a:spcPts val="600"/>
              </a:spcBef>
              <a:defRPr sz="1600"/>
            </a:pPr>
            <a:r>
              <a:t>Prompt injection protection and content sanitization</a:t>
            </a:r>
          </a:p>
          <a:p>
            <a:pPr lvl="1">
              <a:spcBef>
                <a:spcPts val="600"/>
              </a:spcBef>
              <a:defRPr sz="1600"/>
            </a:pPr>
            <a:r>
              <a:t>Structured output in markdown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Report Mode: Instant Issue Backlog Overview</a:t>
            </a:r>
          </a:p>
        </p:txBody>
      </p:sp>
      <p:pic>
        <p:nvPicPr>
          <p:cNvPr id="3" name="Picture 2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784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Command: python src/main.py --report | Shows all open issues with metadata, age, and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92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Recommendation Mode: AI-Powered Solution Guidance</a:t>
            </a:r>
          </a:p>
        </p:txBody>
      </p:sp>
      <p:pic>
        <p:nvPicPr>
          <p:cNvPr id="3" name="Picture 2" descr="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75" y="888024"/>
            <a:ext cx="4610050" cy="5795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629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rPr dirty="0"/>
              <a:t>Command: python src/main.py --issue 1 | Provides root cause analysis, implementation approach, and test cases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Benefits for Teams and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rPr dirty="0"/>
              <a:t>For Developers: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75% faster issue triage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AI-generated context for complex issues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Implementation guidance with test case suggestions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Quick identification of stale </a:t>
            </a:r>
            <a:r>
              <a:rPr dirty="0" smtClean="0"/>
              <a:t>issues</a:t>
            </a:r>
            <a:endParaRPr lang="en-US" dirty="0"/>
          </a:p>
          <a:p>
            <a:pPr lvl="1">
              <a:spcBef>
                <a:spcPts val="600"/>
              </a:spcBef>
              <a:defRPr sz="1400"/>
            </a:pPr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For Team Leads: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Real-time visibility into backlog health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Data-driven prioritization metrics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Reduced onboarding time for new hires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rPr dirty="0"/>
              <a:t>For DevOps/Ansible Teams: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Automated playbook maintenance insights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Configuration drift detection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Infrastructure issue </a:t>
            </a:r>
            <a:r>
              <a:rPr dirty="0" smtClean="0"/>
              <a:t>correlation</a:t>
            </a:r>
            <a:endParaRPr lang="en-US" dirty="0" smtClean="0"/>
          </a:p>
          <a:p>
            <a:pPr lvl="1">
              <a:spcBef>
                <a:spcPts val="600"/>
              </a:spcBef>
              <a:defRPr sz="1400"/>
            </a:pPr>
            <a:endParaRPr lang="en-US" dirty="0"/>
          </a:p>
          <a:p>
            <a:pPr lvl="1">
              <a:spcBef>
                <a:spcPts val="600"/>
              </a:spcBef>
              <a:defRPr sz="1400"/>
            </a:pPr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For Management: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Measurable productivity gains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Reduced technical debt accumulation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Faster time-to-resolution for customer issues</a:t>
            </a:r>
          </a:p>
          <a:p>
            <a:pPr lvl="1">
              <a:spcBef>
                <a:spcPts val="600"/>
              </a:spcBef>
              <a:defRPr sz="1400"/>
            </a:pPr>
            <a:r>
              <a:rPr dirty="0"/>
              <a:t>Lower operational costs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Use Cases Across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Development Teams:</a:t>
            </a:r>
          </a:p>
          <a:p>
            <a:pPr lvl="1">
              <a:spcBef>
                <a:spcPts val="600"/>
              </a:spcBef>
              <a:defRPr sz="1600"/>
            </a:pPr>
            <a:r>
              <a:t>Daily stand-up preparation: Quick backlog overview</a:t>
            </a:r>
          </a:p>
          <a:p>
            <a:pPr lvl="1">
              <a:spcBef>
                <a:spcPts val="600"/>
              </a:spcBef>
              <a:defRPr sz="1600"/>
            </a:pPr>
            <a:r>
              <a:t>Sprint planning: AI-powered effort estimation from issue analysis</a:t>
            </a:r>
          </a:p>
          <a:p>
            <a:pPr lvl="1">
              <a:spcBef>
                <a:spcPts val="600"/>
              </a:spcBef>
              <a:defRPr sz="1600"/>
            </a:pPr>
            <a:r>
              <a:t>Code reviews: Understanding context behind bug fixes</a:t>
            </a:r>
          </a:p>
          <a:p>
            <a:pPr>
              <a:spcBef>
                <a:spcPts val="600"/>
              </a:spcBef>
              <a:defRPr sz="1800"/>
            </a:pPr>
            <a:r>
              <a:t>Ansible Asset Maintainers:</a:t>
            </a:r>
          </a:p>
          <a:p>
            <a:pPr lvl="1">
              <a:spcBef>
                <a:spcPts val="600"/>
              </a:spcBef>
              <a:defRPr sz="1600"/>
            </a:pPr>
            <a:r>
              <a:t>Infrastructure issue tracking for playbook repositories</a:t>
            </a:r>
          </a:p>
          <a:p>
            <a:pPr lvl="1">
              <a:spcBef>
                <a:spcPts val="600"/>
              </a:spcBef>
              <a:defRPr sz="1600"/>
            </a:pPr>
            <a:r>
              <a:t>Configuration management recommendations</a:t>
            </a:r>
          </a:p>
          <a:p>
            <a:pPr lvl="1">
              <a:spcBef>
                <a:spcPts val="600"/>
              </a:spcBef>
              <a:defRPr sz="1600"/>
            </a:pPr>
            <a:r>
              <a:t>Automated dependency update analysis</a:t>
            </a:r>
          </a:p>
          <a:p>
            <a:pPr>
              <a:spcBef>
                <a:spcPts val="600"/>
              </a:spcBef>
              <a:defRPr sz="1800"/>
            </a:pPr>
            <a:r>
              <a:t>Support Teams:</a:t>
            </a:r>
          </a:p>
          <a:p>
            <a:pPr lvl="1">
              <a:spcBef>
                <a:spcPts val="600"/>
              </a:spcBef>
              <a:defRPr sz="1600"/>
            </a:pPr>
            <a:r>
              <a:t>Faster response to customer-reported issues</a:t>
            </a:r>
          </a:p>
          <a:p>
            <a:pPr lvl="1">
              <a:spcBef>
                <a:spcPts val="600"/>
              </a:spcBef>
              <a:defRPr sz="1600"/>
            </a:pPr>
            <a:r>
              <a:t>Root cause identification for recurring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Security &amp; Compliance Built-In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Enterprise-grade security:</a:t>
            </a:r>
          </a:p>
          <a:p>
            <a:pPr lvl="1">
              <a:spcBef>
                <a:spcPts val="600"/>
              </a:spcBef>
              <a:defRPr sz="1600"/>
            </a:pPr>
            <a:r>
              <a:t>Local LLM deployment - no data sent to external APIs</a:t>
            </a:r>
          </a:p>
          <a:p>
            <a:pPr lvl="1">
              <a:spcBef>
                <a:spcPts val="600"/>
              </a:spcBef>
              <a:defRPr sz="1600"/>
            </a:pPr>
            <a:r>
              <a:t>Secure token management via environment variables</a:t>
            </a:r>
          </a:p>
          <a:p>
            <a:pPr lvl="1">
              <a:spcBef>
                <a:spcPts val="600"/>
              </a:spcBef>
              <a:defRPr sz="1600"/>
            </a:pPr>
            <a:r>
              <a:t>Prompt injection mitigation with content sanitization</a:t>
            </a:r>
          </a:p>
          <a:p>
            <a:pPr lvl="1">
              <a:spcBef>
                <a:spcPts val="600"/>
              </a:spcBef>
              <a:defRPr sz="1600"/>
            </a:pPr>
            <a:r>
              <a:t>Content truncation to prevent context overflow attacks</a:t>
            </a:r>
          </a:p>
          <a:p>
            <a:pPr>
              <a:spcBef>
                <a:spcPts val="600"/>
              </a:spcBef>
              <a:defRPr sz="1800"/>
            </a:pPr>
            <a:r>
              <a:t>Compliance features:</a:t>
            </a:r>
          </a:p>
          <a:p>
            <a:pPr lvl="1">
              <a:spcBef>
                <a:spcPts val="600"/>
              </a:spcBef>
              <a:defRPr sz="1600"/>
            </a:pPr>
            <a:r>
              <a:t>Audit trail: All agent actions logged with structured logging</a:t>
            </a:r>
          </a:p>
          <a:p>
            <a:pPr lvl="1">
              <a:spcBef>
                <a:spcPts val="600"/>
              </a:spcBef>
              <a:defRPr sz="1600"/>
            </a:pPr>
            <a:r>
              <a:t>Rate limiting: Respects GitHub API limits (5000 req/hr)</a:t>
            </a:r>
          </a:p>
          <a:p>
            <a:pPr lvl="1">
              <a:spcBef>
                <a:spcPts val="600"/>
              </a:spcBef>
              <a:defRPr sz="1600"/>
            </a:pPr>
            <a:r>
              <a:t>Minimal token scopes: Read-only access to repositories</a:t>
            </a:r>
          </a:p>
          <a:p>
            <a:pPr>
              <a:spcBef>
                <a:spcPts val="600"/>
              </a:spcBef>
              <a:defRPr sz="1800"/>
            </a:pPr>
            <a:r>
              <a:t>Privacy-first design:</a:t>
            </a:r>
          </a:p>
          <a:p>
            <a:pPr lvl="1">
              <a:spcBef>
                <a:spcPts val="600"/>
              </a:spcBef>
              <a:defRPr sz="1600"/>
            </a:pPr>
            <a:r>
              <a:t>Issue data never persisted to disk</a:t>
            </a:r>
          </a:p>
          <a:p>
            <a:pPr lvl="1">
              <a:spcBef>
                <a:spcPts val="600"/>
              </a:spcBef>
              <a:defRPr sz="1600"/>
            </a:pPr>
            <a:r>
              <a:t>No PII logging (only metadata at INFO level)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&amp; 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Easy deployment:</a:t>
            </a:r>
          </a:p>
          <a:p>
            <a:pPr lvl="1">
              <a:spcBef>
                <a:spcPts val="600"/>
              </a:spcBef>
              <a:defRPr sz="1400"/>
            </a:pPr>
            <a:r>
              <a:t>Setup time: &lt; 15 minutes</a:t>
            </a:r>
          </a:p>
          <a:p>
            <a:pPr lvl="1">
              <a:spcBef>
                <a:spcPts val="600"/>
              </a:spcBef>
              <a:defRPr sz="1400"/>
            </a:pPr>
            <a:r>
              <a:t>Prerequisites: Python 3.11+, Ollama</a:t>
            </a:r>
          </a:p>
          <a:p>
            <a:pPr lvl="1">
              <a:spcBef>
                <a:spcPts val="600"/>
              </a:spcBef>
              <a:defRPr sz="1400"/>
            </a:pPr>
            <a:r>
              <a:t>CLI-based: No UI training required</a:t>
            </a:r>
          </a:p>
          <a:p>
            <a:pPr>
              <a:spcBef>
                <a:spcPts val="600"/>
              </a:spcBef>
              <a:defRPr sz="1600"/>
            </a:pPr>
            <a:r>
              <a:t>Scalability:</a:t>
            </a:r>
          </a:p>
          <a:p>
            <a:pPr lvl="1">
              <a:spcBef>
                <a:spcPts val="600"/>
              </a:spcBef>
              <a:defRPr sz="1400"/>
            </a:pPr>
            <a:r>
              <a:t>Handles repositories with 200+ issues</a:t>
            </a:r>
          </a:p>
          <a:p>
            <a:pPr lvl="1">
              <a:spcBef>
                <a:spcPts val="600"/>
              </a:spcBef>
              <a:defRPr sz="1400"/>
            </a:pPr>
            <a:r>
              <a:t>Concurrent execution support</a:t>
            </a:r>
          </a:p>
          <a:p>
            <a:pPr lvl="1">
              <a:spcBef>
                <a:spcPts val="600"/>
              </a:spcBef>
              <a:defRPr sz="1400"/>
            </a:pPr>
            <a:r>
              <a:t>Extensible tool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ROI Analysis (50-developer team):</a:t>
            </a:r>
          </a:p>
          <a:p>
            <a:pPr lvl="1">
              <a:spcBef>
                <a:spcPts val="600"/>
              </a:spcBef>
              <a:defRPr sz="1400"/>
            </a:pPr>
            <a:r>
              <a:t>Time saved: 25 hours/day collectively</a:t>
            </a:r>
          </a:p>
          <a:p>
            <a:pPr lvl="1">
              <a:spcBef>
                <a:spcPts val="600"/>
              </a:spcBef>
              <a:defRPr sz="1400"/>
            </a:pPr>
            <a:r>
              <a:t>Cost savings: ~$150K/year</a:t>
            </a:r>
          </a:p>
          <a:p>
            <a:pPr lvl="1">
              <a:spcBef>
                <a:spcPts val="600"/>
              </a:spcBef>
              <a:defRPr sz="1400"/>
            </a:pPr>
            <a:r>
              <a:t>Faster issue resolution: 40% improvement</a:t>
            </a:r>
          </a:p>
          <a:p>
            <a:pPr lvl="1">
              <a:spcBef>
                <a:spcPts val="600"/>
              </a:spcBef>
              <a:defRPr sz="1400"/>
            </a:pPr>
            <a:r>
              <a:t>Reduced onboarding time: 2 weeks → 3 days</a:t>
            </a:r>
          </a:p>
          <a:p>
            <a:pPr>
              <a:spcBef>
                <a:spcPts val="600"/>
              </a:spcBef>
              <a:defRPr sz="1600"/>
            </a:pPr>
            <a:r>
              <a:t>Payback period: &lt; 2 weeks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Why our solution stands out: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ReAct</a:t>
            </a:r>
            <a:r>
              <a:rPr dirty="0"/>
              <a:t> pattern: Industry-leading agent architecture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Local LLM: No dependency on </a:t>
            </a:r>
            <a:r>
              <a:rPr dirty="0" err="1"/>
              <a:t>OpenAI</a:t>
            </a:r>
            <a:r>
              <a:rPr dirty="0"/>
              <a:t> or cloud APIs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Tool-based design: Easily extensible to Jira, </a:t>
            </a:r>
            <a:r>
              <a:rPr dirty="0" err="1"/>
              <a:t>GitLab</a:t>
            </a:r>
            <a:r>
              <a:rPr dirty="0"/>
              <a:t>, etc.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Test coverage: 90%+ with comprehensive test </a:t>
            </a:r>
            <a:r>
              <a:rPr dirty="0" smtClean="0"/>
              <a:t>suite</a:t>
            </a:r>
            <a:endParaRPr lang="en-US" dirty="0" smtClean="0"/>
          </a:p>
          <a:p>
            <a:pPr marL="457200" lvl="1" indent="0">
              <a:spcBef>
                <a:spcPts val="600"/>
              </a:spcBef>
              <a:buNone/>
              <a:defRPr sz="16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Competitive advantages: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Zero recurring API costs (vs. $20-100/user/month for SaaS)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Complete data privacy and control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Customizable for organization-specific workflows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Open-source foundation with </a:t>
            </a:r>
            <a:r>
              <a:rPr dirty="0" err="1"/>
              <a:t>LangChain</a:t>
            </a:r>
            <a:r>
              <a:rPr dirty="0"/>
              <a:t>/</a:t>
            </a:r>
            <a:r>
              <a:rPr dirty="0" err="1"/>
              <a:t>LangGraph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/>
            </a:pPr>
            <a:r>
              <a:rPr dirty="0" smtClean="0"/>
              <a:t>Immediate </a:t>
            </a:r>
            <a:r>
              <a:rPr dirty="0"/>
              <a:t>next steps: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Pilot deployment with 2-3 active repositories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Gather user feedback and metrics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Integrate with CI/CD pipelines for automated </a:t>
            </a:r>
            <a:r>
              <a:rPr dirty="0" smtClean="0"/>
              <a:t>reporting</a:t>
            </a:r>
            <a:endParaRPr lang="en-US" dirty="0" smtClean="0"/>
          </a:p>
          <a:p>
            <a:pPr marL="457200" lvl="1" indent="0">
              <a:spcBef>
                <a:spcPts val="600"/>
              </a:spcBef>
              <a:buNone/>
              <a:defRPr sz="16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Future enhancements (Q2-Q3 2026):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Multi-repository support (cross-repo issue analysis)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Integration with Jira, Linear, and other issue trackers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Ansible playbook-specific recommendations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Slack/Teams integration for proactive issue notifications</a:t>
            </a:r>
          </a:p>
          <a:p>
            <a:pPr lvl="1">
              <a:spcBef>
                <a:spcPts val="600"/>
              </a:spcBef>
              <a:defRPr sz="1600"/>
            </a:pPr>
            <a:r>
              <a:rPr dirty="0"/>
              <a:t>Historical trend analysis and </a:t>
            </a:r>
            <a:r>
              <a:rPr/>
              <a:t>predictive </a:t>
            </a:r>
            <a:r>
              <a:rPr smtClean="0"/>
              <a:t>insights</a:t>
            </a:r>
            <a:endParaRPr lang="en-US" smtClean="0"/>
          </a:p>
          <a:p>
            <a:pPr marL="457200" lvl="1" indent="0">
              <a:spcBef>
                <a:spcPts val="600"/>
              </a:spcBef>
              <a:buNone/>
              <a:defRPr sz="1600"/>
            </a:pPr>
            <a:endParaRPr dirty="0"/>
          </a:p>
          <a:p>
            <a:pPr>
              <a:spcBef>
                <a:spcPts val="600"/>
              </a:spcBef>
              <a:defRPr sz="1800"/>
            </a:pPr>
            <a:r>
              <a:rPr dirty="0"/>
              <a:t>Looking for approval to proceed with pilot phase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600"/>
              </a:spcBef>
              <a:defRPr sz="1800"/>
            </a:pPr>
            <a:r>
              <a:t>Request: Approval for 30-day pilot program</a:t>
            </a:r>
          </a:p>
          <a:p>
            <a:pPr lvl="1">
              <a:spcBef>
                <a:spcPts val="600"/>
              </a:spcBef>
              <a:defRPr sz="1600"/>
            </a:pPr>
            <a:r>
              <a:t>Scope: 3 GitHub repositories with active development</a:t>
            </a:r>
          </a:p>
          <a:p>
            <a:pPr lvl="1">
              <a:spcBef>
                <a:spcPts val="600"/>
              </a:spcBef>
              <a:defRPr sz="1600"/>
            </a:pPr>
            <a:r>
              <a:t>Team: 5-10 developers for initial feedback</a:t>
            </a:r>
          </a:p>
          <a:p>
            <a:pPr lvl="1">
              <a:spcBef>
                <a:spcPts val="600"/>
              </a:spcBef>
              <a:defRPr sz="1600"/>
            </a:pPr>
            <a:r>
              <a:t>Timeline: Setup in week 1, usage weeks 2-4, review end of week 4</a:t>
            </a:r>
          </a:p>
          <a:p>
            <a:pPr>
              <a:spcBef>
                <a:spcPts val="600"/>
              </a:spcBef>
              <a:defRPr sz="1800"/>
            </a:pPr>
            <a:r>
              <a:t>Success metrics:</a:t>
            </a:r>
          </a:p>
          <a:p>
            <a:pPr lvl="1">
              <a:spcBef>
                <a:spcPts val="600"/>
              </a:spcBef>
              <a:defRPr sz="1600"/>
            </a:pPr>
            <a:r>
              <a:t>Time saved per developer (tracked via surveys)</a:t>
            </a:r>
          </a:p>
          <a:p>
            <a:pPr lvl="1">
              <a:spcBef>
                <a:spcPts val="600"/>
              </a:spcBef>
              <a:defRPr sz="1600"/>
            </a:pPr>
            <a:r>
              <a:t>Issue resolution speed improvement</a:t>
            </a:r>
          </a:p>
          <a:p>
            <a:pPr lvl="1">
              <a:spcBef>
                <a:spcPts val="600"/>
              </a:spcBef>
              <a:defRPr sz="1600"/>
            </a:pPr>
            <a:r>
              <a:t>User satisfaction score (NPS)</a:t>
            </a:r>
          </a:p>
          <a:p>
            <a:pPr>
              <a:spcBef>
                <a:spcPts val="600"/>
              </a:spcBef>
              <a:defRPr sz="1800"/>
            </a:pPr>
            <a:r>
              <a:t>Questions?</a:t>
            </a:r>
          </a:p>
          <a:p>
            <a:pPr lvl="1">
              <a:spcBef>
                <a:spcPts val="600"/>
              </a:spcBef>
              <a:defRPr sz="1600"/>
            </a:pPr>
            <a:r>
              <a:t>Contact: [Your Name/Team]</a:t>
            </a:r>
          </a:p>
          <a:p>
            <a:pPr lvl="1">
              <a:spcBef>
                <a:spcPts val="600"/>
              </a:spcBef>
              <a:defRPr sz="1600"/>
            </a:pPr>
            <a:r>
              <a:t>Documentation: Available in project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823</Words>
  <Application>Microsoft Office PowerPoint</Application>
  <PresentationFormat>On-screen Show (4:3)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Agentic AI for Development Operations</vt:lpstr>
      <vt:lpstr>Executive Summary</vt:lpstr>
      <vt:lpstr>The Problem: Manual Issue Management is Time-Consuming</vt:lpstr>
      <vt:lpstr>The Solution: Agentic AI Issue Reporter</vt:lpstr>
      <vt:lpstr>PowerPoint Presentation</vt:lpstr>
      <vt:lpstr>PowerPoint Presentation</vt:lpstr>
      <vt:lpstr>PowerPoint Presentation</vt:lpstr>
      <vt:lpstr>Use Cases Across the Organization</vt:lpstr>
      <vt:lpstr>Security &amp; Compliance Built-In</vt:lpstr>
      <vt:lpstr>PowerPoint Presentation</vt:lpstr>
      <vt:lpstr>Technical Differentiators</vt:lpstr>
      <vt:lpstr>Next Steps &amp; Future Roadmap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Development Operations</dc:title>
  <dc:subject/>
  <dc:creator/>
  <cp:keywords/>
  <dc:description>generated using python-pptx</dc:description>
  <cp:lastModifiedBy>vsrivastava</cp:lastModifiedBy>
  <cp:revision>5</cp:revision>
  <dcterms:created xsi:type="dcterms:W3CDTF">2013-01-27T09:14:16Z</dcterms:created>
  <dcterms:modified xsi:type="dcterms:W3CDTF">2026-05-06T20:57:18Z</dcterms:modified>
  <cp:category/>
</cp:coreProperties>
</file>