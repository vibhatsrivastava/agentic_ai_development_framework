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Automation Maturity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B4A0"/>
                </a:solidFill>
              </a:rPr>
              <a:t>Through Agentic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017520"/>
            <a:ext cx="7616952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4612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6DCE4"/>
                </a:solidFill>
              </a:rPr>
              <a:t>A self-improving pipeline: AAP failure detection → AI root cause analysis
→ automated code enhancement → Human-in-the-Loop approval → production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6060"/>
                </a:solidFill>
              </a:rPr>
              <a:t>Enterprise Automation Engineering  |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3075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Problem Statement — The automation debt crisis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39112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122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Vision — Automation Maturity Levels (0 → 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895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169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Solution Overview — How the pipeline works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48456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216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Architecture — Component deep-dive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53128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498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MVP-1 — Intelligent failure detection &amp; GitHub Issues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5780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309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MVP-2 — Automated remediation &amp; HITL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23444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801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3075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Microsoft Teams Integration — HITL notification lifecycle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39112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8483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1122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Infrastructure — What we have vs. what to build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843784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895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9169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Security &amp; Guardrails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648456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9417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7216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Benefits &amp; ROI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453128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4988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Implementation Roadmap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257800"/>
            <a:ext cx="50292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33095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Open Questions &amp; 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The automation debt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10312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Reactive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39495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Failures are discovered by end users, not the team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No proactive monitoring of deployed automation health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MTTR measured in days, not hours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81928" y="1188720"/>
            <a:ext cx="5577840" cy="210312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26187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Accumulating Debt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600200"/>
            <a:ext cx="539495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Playbooks evolve; original authors move 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Bug fixes are one-off patches, never systematised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Same failures recur across teams without shared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5577840" cy="210312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3931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Lost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539495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RCA context lives in Slack/email — not searchable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No connection between failure logs and code changes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Onboarding engineers repeat diagnostic work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3566160"/>
            <a:ext cx="5577840" cy="210312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363931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Engineer Toil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977640"/>
            <a:ext cx="539495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Senior engineers spend 30–40% of time on reactive fixes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New automation blocked while existing automation burns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• Manual, repetitive fault diagnosis with no AI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Vision: Automation Maturity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Five levels — from reactive chaos to self-healing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1280160" cy="54864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92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06060"/>
                </a:solidFill>
              </a:rPr>
              <a:t>Reactive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59" y="2377440"/>
            <a:ext cx="2103120" cy="2651760"/>
          </a:xfrm>
          <a:prstGeom prst="rect">
            <a:avLst/>
          </a:prstGeom>
          <a:solidFill>
            <a:srgbClr val="162A3E"/>
          </a:solidFill>
          <a:ln w="190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96312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DCE4"/>
                </a:solidFill>
              </a:rPr>
              <a:t>Failures found by users.
Fixed ad-hoc, no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0672" y="1234440"/>
            <a:ext cx="1280160" cy="5486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2801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892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78D4"/>
                </a:solidFill>
              </a:rPr>
              <a:t>Monitored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9191" y="2377440"/>
            <a:ext cx="2103120" cy="265176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2496312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DCE4"/>
                </a:solidFill>
              </a:rPr>
              <a:t>Failures captured in PostgreSQL.
Manual RCA by engineers.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4103" y="1234440"/>
            <a:ext cx="1280160" cy="54864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4103" y="12801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3" y="1892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A0"/>
                </a:solidFill>
              </a:rPr>
              <a:t>Intelligent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3" y="2377440"/>
            <a:ext cx="2103120" cy="265176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496312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DCE4"/>
                </a:solidFill>
              </a:rPr>
              <a:t>AI detects &amp; analyses failures.
Structured GitHub Issues auto-created.
[MVP-1]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1234440"/>
            <a:ext cx="1280160" cy="5486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12801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1892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B900"/>
                </a:solidFill>
              </a:rPr>
              <a:t>Semi-Auto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06055" y="2377440"/>
            <a:ext cx="2103120" cy="265176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97496" y="2496312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DCE4"/>
                </a:solidFill>
              </a:rPr>
              <a:t>Copilot applies code fixes.
HITL review via Teams + GitHub PR.
[MVP-2]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30967" y="1234440"/>
            <a:ext cx="1280160" cy="54864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7" y="1280160"/>
            <a:ext cx="1280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18928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7C10"/>
                </a:solidFill>
              </a:rPr>
              <a:t>Self-Healing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19488" y="2377440"/>
            <a:ext cx="2103120" cy="2651760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10928" y="2496312"/>
            <a:ext cx="1920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DCE4"/>
                </a:solidFill>
              </a:rPr>
              <a:t>Proactive enhancements.
Drift detection.
Cross-playbook learning.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32888" y="1389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1389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9751" y="1389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138988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8D4"/>
                </a:solidFill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B900"/>
                </a:solidFill>
              </a:rPr>
              <a:t>◀ You are 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07C10"/>
                </a:solidFill>
              </a:rPr>
              <a:t>Target 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Event-driven, threshold-gated, human-approved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1234440" cy="1280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
AAP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9928" y="2286000"/>
            <a:ext cx="1234440" cy="1280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09928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
Webhook →
Redis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45536" y="2286000"/>
            <a:ext cx="1234440" cy="128016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
Filter &amp;
Dedup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1144" y="2286000"/>
            <a:ext cx="1234440" cy="128016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
Agentic AI
RCA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2" y="2286000"/>
            <a:ext cx="1234440" cy="12801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
GitHub
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286000"/>
            <a:ext cx="1234440" cy="128016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
Copilot
Fixes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2286000"/>
            <a:ext cx="1234440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
HITL PR
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8" y="2761488"/>
            <a:ext cx="2468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23576" y="2286000"/>
            <a:ext cx="1234440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23576" y="2395728"/>
            <a:ext cx="123444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
Deploy +
KB Update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3886200"/>
            <a:ext cx="9326880" cy="658368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3950208"/>
            <a:ext cx="9052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DCE4"/>
                </a:solidFill>
              </a:rPr>
              <a:t>📣  Teams Adaptive Cards notify code owners at every human decision point: Issue Created → PR Ready → Stale Reminder → Resolved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09160"/>
            <a:ext cx="112745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6DCE4"/>
                </a:solidFill>
              </a:rPr>
              <a:t>▸ Zero-cost at rest — Redis BLOCK read sleeps until an event arrives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6DCE4"/>
                </a:solidFill>
              </a:rPr>
              <a:t>▸ Deduplication — same failure never creates two GitHub Issues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6DCE4"/>
                </a:solidFill>
              </a:rPr>
              <a:t>▸ Confidence gate — AI only opens an issue when ≥75% confident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6DCE4"/>
                </a:solidFill>
              </a:rPr>
              <a:t>▸ No auto-merge — every code change requires human approval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6DCE4"/>
                </a:solidFill>
              </a:rPr>
              <a:t>▸ On-premises LLM (Ollama) — failure data never leaves the environment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— Existing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Everything is already deployed; only orchestration is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✅  Already Deployed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93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Ansible Automation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0934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Source of failure events via Notification Webhooks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6712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0370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ansible-role-execution-result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0370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Captures 23-field execution metadata per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6148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9806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ansible-role-execution-result-update-db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79806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Writes success_jobs / failed_jobs to PostgreSQL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5584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9242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ansible_role_job_execution_evaluator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39242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Categorises failures, writes job_failures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5020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8678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PostgreSQL + 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98678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Persistent knowledge base + cosine similarity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4456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811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Redis 7 (Docker)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58114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Event queue, dedup store, rate limiter, analysis cache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13892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7550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HashiCorp Vault (Docker)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517550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Centralised secrets for all pipeline components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733288"/>
            <a:ext cx="530352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986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Langchain common/ (Ollama)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769864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get_chat_llm(), get_embeddings(), vault.py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1430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900"/>
                </a:solidFill>
              </a:rPr>
              <a:t>🔨  Build / Configure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57276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60934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Event Ingestion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160934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FastAPI webhook receiver — pushes to Redis Stream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16712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20370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Aggregation &amp; Filter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220370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Dedup, rate-limit, circuit-breaker, transient-error skip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76148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79806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LangGraph ReAct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279806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RCA analysis worker — 3 tools + confidence gate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35584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3924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GitHub Issue Creator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80" y="339242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Structured, RAG-grounded issue with Copilot trigger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95020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98678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Teams Notifier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398678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Adaptive Cards across 5 lifecycle touchpoints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454456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58114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GitHub Actions Workflows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80" y="458114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Copilot fix → molecule test → PR creation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13892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17550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HITL PR Template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517550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6-item checklist + branch protection rules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5733288"/>
            <a:ext cx="5577840" cy="530352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76986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B900"/>
                </a:solidFill>
              </a:rPr>
              <a:t>Feedback Loop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576986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Post-merge pgvector re-embedding + Redis cleanup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MVP-1 — Intelligent Detection &amp; GitHub Issue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Phases 0–4  |  6–8 weeks  |  Exit: ≥80% of AI issues rated accurate by code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42316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A0"/>
                </a:solidFill>
              </a:rPr>
              <a:t>Phase 0
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pgvector schema: add failure_vector, resolution_notes, github_issue_url columns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Vault secret paths: secret/agentic-ai/postgres, redis, github, teams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Redis Streams naming convention documented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AAP Notification Template webhook configured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188720"/>
            <a:ext cx="3749039" cy="242316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1280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Phase 1
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783080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FastAPI POST /api/v1/failure-event — validates X-AWX-Token (Vault)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Pydantic schema validation on AAP webhook payload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XADD to Redis Stream awx:job:failures — returns 202 immediately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GET /health endpoint + Docker Compose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88720"/>
            <a:ext cx="3749039" cy="242316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80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Phase 2
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XREADGROUP BLOCK 5000 — zero CPU at idle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Dedup check: Redis key TTL 7 days — skip if open issue exists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Rate limit: 1 AI analysis per playbook per 24 hours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Circuit breaker: &gt;20/hour → Teams CRITICAL card + skip AI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Transient error classifier (rule-based, no LLM cost)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3749039" cy="242316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31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A0"/>
                </a:solidFill>
              </a:rPr>
              <a:t>Phase 3
AI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LangGraph ReAct agent: get_chat_llm(format='json') + 3 tools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Tool 1: retrieve_similar_failures() — pgvector cosine search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Tool 2: fetch_awx_job_logs() — AWX REST API, 5000-char truncate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Tool 3: fetch_playbook_code() — GitHub API, ±20 lines context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Confidence gate: &lt;0.75 → fallback log only, no issue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840480"/>
            <a:ext cx="3749039" cy="242316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393192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Phase 4
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4434840"/>
            <a:ext cx="3520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GitHub Issue: RCA + top-3 similar historical failures + recommended fix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Dedup safety check via GitHub API before creation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Update job_failures.github_issue_url in PostgreSQL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Teams Adaptive Card → #ansible-automation-failures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Copilot trigger instruction embedded in issue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MVP-2 — Automated Remediation &amp; HITL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Phases 5–7  |  10–14 weeks post MVP-1  |  Exit: ≥70% of AI PRs approved without major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3749039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900"/>
                </a:solidFill>
              </a:rPr>
              <a:t>Phase 5
CI/CD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GitHub Actions trigger: issues.labeled = copilot-fix-ready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Parse issue body: affected file, task, recommended fix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GitHub Copilot agent applies code change on new branch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Branch: ai-fix/issue-{number}-{playbook-slug}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CI: ansible-lint → yamllint → molecule test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PR created with code owners as mandatory reviewers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Draft PR if CI failed — signals manual intervention needed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Teams card → #ansible-pr-reviews with CI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234440"/>
            <a:ext cx="3749039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399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7C10"/>
                </a:solidFill>
              </a:rPr>
              <a:t>Phase 6
HITL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399" y="1874519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Branch protection: ≥1 code owner approval required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Stale review dismissal on new push: enabled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Required status checks: molecule/test, ansible-lint (both)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PR template: 6-item review checklist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Day 3: Teams stale reminder → assignees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Day 7: Teams escalation → tech lead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NO auto-merge — hardcoded architectural guarantee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3749039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Phase 7
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74519"/>
            <a:ext cx="3520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GitHub Actions: pull_request.closed + merged + ai-generated label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PostgreSQL: set resolution_notes, resolved_at, resolution_pr_url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pgvector: re-embed composite text including resolution context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Redis: DEL dedup:{key}, DEL analysis_cache:{key}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GitHub Issue: closed with resolution summary comment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Teams resolution card → #ansible-automation-failures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D6DCE4"/>
                </a:solidFill>
              </a:rPr>
              <a:t>▸ Future RAG queries now reference this resolved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pgvector Knowledge Base — The AI's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Semantic similarity search that improves with every resolved failure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94960" cy="530352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A0"/>
                </a:solidFill>
              </a:rPr>
              <a:t>How pgvector Powers the RCA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5166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1.  New failure arrives → composite text built: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     'Playbook: X  Template: Y  Error: Z  Task: T  Module: M'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2.  nomic-embed-text embeds text → 768-dimension vector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3.  pgvector cosine search → top-5 most similar past failures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4.  Filter: only resolved failures (resolved_at IS NOT NULL)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5.  Top-5 results injected into LLM prompt as grounding context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6.  LLM produces RCA anchored in real historical resolutions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Post-merge feedback: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7.  resolution_notes + resolved_at written to matched rows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8.  Row re-embedded (now includes resolution context)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6DCE4"/>
                </a:solidFill>
              </a:rPr>
              <a:t>9.  Knowledge base grows more accurate with every merged PR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5897880" cy="530352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325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job_failures Table — Key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failure_vector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17830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vector(768)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7830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Composite embedding (HNSW indexed)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21991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failure_message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221991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22199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Raw error text from AWX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6090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failed_task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66090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VARCHAR(500)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609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Ansible task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99815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module_name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3099815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VARCHAR(255)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099815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Ansible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387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playbook_name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53872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538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Playbook file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97763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job_template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397763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VARCHAR(255)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97763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AWX job template 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4165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github_issue_url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441655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44165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Link to AI-created GitHub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5546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resolution_notes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485546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485546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Set post-merge: what was 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29437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resolved_at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529437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TIMESTAMP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529437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Set when PR merged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73328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A0"/>
                </a:solidFill>
              </a:rPr>
              <a:t>resolution_pr_url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57332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900"/>
                </a:solidFill>
              </a:rPr>
              <a:t>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5733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Link to merged fix 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Redis — One Infrastructure Component, Five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Event queue + dedup + rate limiting + circuit breaker + analysis 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8D4"/>
                </a:solidFill>
              </a:rPr>
              <a:t>Streams
Event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900"/>
                </a:solidFill>
              </a:rPr>
              <a:t>awx:job:failures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2316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XADD from ingestion service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XREADGROUP BLOCK 5000 (sleeps when idle)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XAUTOCLAIM on crash recovery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Dead letter: awx:job:failures:dlq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A0"/>
                </a:solidFill>
              </a:rPr>
              <a:t>SET + EXPIRY
Deduplication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9659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900"/>
                </a:solidFill>
              </a:rPr>
              <a:t>dedup:{sha256(...)}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2316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TTL: 7 days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Prevents duplicate GitHub Issues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Increments failure count on repeat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Cleared after PR merge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900"/>
                </a:solidFill>
              </a:rPr>
              <a:t>INCR + EXPIRY
Rate Limiter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9659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900"/>
                </a:solidFill>
              </a:rPr>
              <a:t>ratelimit:{playbook}:{date}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2316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TTL: 24 hours (auto-reset daily)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Max 1 AI analysis per playbook/day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Controls LLM inference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C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50000"/>
                </a:solidFill>
              </a:rPr>
              <a:t>INCR + EXPIRY
Circuit Breaker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9659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900"/>
                </a:solidFill>
              </a:rPr>
              <a:t>circuit:{playbook}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42316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TTL: 1 hour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&gt;20 failures/hour → CRITICAL alert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Bypasses AI — human escalation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Teams card to #automation-alerts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3836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32588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SET + EXPIRY
Analysis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965960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B900"/>
                </a:solidFill>
              </a:rPr>
              <a:t>analysis_cache:{sha256(...)}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423160"/>
            <a:ext cx="2057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TTL: 24 hours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Caches LLM RCA JSON result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Cache hit = zero LLM cost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D6DCE4"/>
                </a:solidFill>
              </a:rPr>
              <a:t>▸ DEL on PR merge (invalidate)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Microsoft Teams Integration — HITL Notification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Adaptive Cards at every human decision point — 3 channels, 5 card 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984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78D4"/>
                </a:solidFill>
              </a:rPr>
              <a:t>Card 1
Circuit Breaker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810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B4A0"/>
                </a:solidFill>
              </a:rPr>
              <a:t>#ansible-automation-alerts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488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900"/>
                </a:solidFill>
              </a:rPr>
              <a:t>@on-call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20574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🚨 CRITICAL: Failure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DCE4"/>
                </a:solidFill>
              </a:rPr>
              <a:t>Playbook / count / time
→ [Investigate AWX]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17720"/>
            <a:ext cx="205740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7091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060"/>
                </a:solidFill>
              </a:rPr>
              <a:t>Trigger:
Phase 2 — Filter Layer fires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2984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A0"/>
                </a:solidFill>
              </a:rPr>
              <a:t>Card 2
RCA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810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B4A0"/>
                </a:solidFill>
              </a:rPr>
              <a:t>#ansible-automation-failures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1488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900"/>
                </a:solidFill>
              </a:rPr>
              <a:t>@code-owners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51460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🤖 AI Root Cause — Action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10896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DCE4"/>
                </a:solidFill>
              </a:rPr>
              <a:t>RCA summary / confidence / similar failures
→ [View Issue]  [Apply Copilot Fix ↗]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4617720"/>
            <a:ext cx="2057400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47091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060"/>
                </a:solidFill>
              </a:rPr>
              <a:t>Trigger:
Phase 4 — Issue created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2984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B900"/>
                </a:solidFill>
              </a:rPr>
              <a:t>Card 3
PR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810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B4A0"/>
                </a:solidFill>
              </a:rPr>
              <a:t>#ansible-pr-reviews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1488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900"/>
                </a:solidFill>
              </a:rPr>
              <a:t>@code-owners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514600"/>
            <a:ext cx="20574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🔧 Fix Ready for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10896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DCE4"/>
                </a:solidFill>
              </a:rPr>
              <a:t>PR # / files changed / CI results
→ [Review PR]  [View Diff]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4617720"/>
            <a:ext cx="2057400" cy="4572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47091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060"/>
                </a:solidFill>
              </a:rPr>
              <a:t>Trigger:
Phase 5 — PR created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6092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C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0" y="12984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50000"/>
                </a:solidFill>
              </a:rPr>
              <a:t>Card 4
Stale Reminder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1810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B4A0"/>
                </a:solidFill>
              </a:rPr>
              <a:t>#ansible-pr-reviews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1488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900"/>
                </a:solidFill>
              </a:rPr>
              <a:t>@assignees / @tech-lead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2514600"/>
            <a:ext cx="2057400" cy="4572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⏰ Review Overdue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10896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DCE4"/>
                </a:solidFill>
              </a:rPr>
              <a:t>PR # / days open / assignees
→ [Review Now]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52360" y="4617720"/>
            <a:ext cx="2057400" cy="45720"/>
          </a:xfrm>
          <a:prstGeom prst="rect">
            <a:avLst/>
          </a:prstGeom>
          <a:solidFill>
            <a:srgbClr val="C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47091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060"/>
                </a:solidFill>
              </a:rPr>
              <a:t>Trigger:
Phase 6 — Day 3 / Day 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38360" y="1234440"/>
            <a:ext cx="2240280" cy="5257800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9800" y="1298448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7C10"/>
                </a:solidFill>
              </a:rPr>
              <a:t>Card 5
Resolved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181051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B4A0"/>
                </a:solidFill>
              </a:rPr>
              <a:t>#ansible-automation-failures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29800" y="21488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900"/>
                </a:solidFill>
              </a:rPr>
              <a:t>All watchers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2514600"/>
            <a:ext cx="2057400" cy="457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800" y="260604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✅ Issue Resolved + KB Updated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310896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6DCE4"/>
                </a:solidFill>
              </a:rPr>
              <a:t>Playbook / task fixed / merged by
Future failures reference this fix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4617720"/>
            <a:ext cx="2057400" cy="4572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29800" y="4709160"/>
            <a:ext cx="2057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06060"/>
                </a:solidFill>
              </a:rPr>
              <a:t>Trigger:
Phase 7 — PR merged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Defence-in-depth across every layer of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307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🔐 Webhook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67335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X-AWX-Token header validated against Vault on every inbound event. Fabricated failure payloads (prompt injection vector) are rejected.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78608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651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🧹 Log Sanitisation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1752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Shell escape sequences and non-printable characters stripped from failure logs before LLM input. Adversarial log content cannot manipulate the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22776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9959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📐 Structured LLM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36168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get_chat_llm(format='json') constrains agent response to a defined JSON schema. Freeform LLM output is never executed or rendered directly.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266944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3400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🚫 No Auto-Merge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705856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Hard architectural rule. Branch protection enforced in GitHub — no code path merges without explicit human approval. Zero exceptions.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234440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13075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🔑 Least Privilege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67335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GitHub token (Vault) scoped to issues:write + PR:read + contents:read only. No write access to default or protected branches.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578608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2651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🏠 Data Sovereignty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301752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LLM inference on self-hosted Ollama. Failure data (hostnames, IPs, internal paths) never leaves the environment.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922776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399592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📋 Immutable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436168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Every AI analysis, issue created, and PR triggered logged to agentic_ai_audit_log (PostgreSQL append-only table).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5266944"/>
            <a:ext cx="5440680" cy="1207008"/>
          </a:xfrm>
          <a:prstGeom prst="rect">
            <a:avLst/>
          </a:prstGeom>
          <a:solidFill>
            <a:srgbClr val="162A3E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9048" y="53400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⚡ DoS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8" y="5705856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Ingestion endpoint rate-limited to 100 req/min per source IP. Vault access cached via _SECRET_CACHE to prevent token exhaustion.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46520"/>
            <a:ext cx="116128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Technical, operational, and strategic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69280" cy="2542032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A0"/>
                </a:solidFill>
              </a:rPr>
              <a:t>Operational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830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Failures detected and analysed in minutes, not days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24/7 monitoring across the entire automation estate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Same failure never investigated twice — knowledge reused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Engineers notified in Teams where they already work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Stale issues auto-escalated — nothing falls through the cracks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234440"/>
            <a:ext cx="5669280" cy="2542032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8" y="13258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8D4"/>
                </a:solidFill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7830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Continuous improvement of playbook quality — not just one-off fixes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Every merged fix strengthens the pgvector knowledge base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Automated testing (molecule, lint) on every AI-generated change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Full audit trail: failure → RCA → issue → PR → merge → resolution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On-prem LLM: no sensitive data exposure, no external API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931920"/>
            <a:ext cx="5669280" cy="2542032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4023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900"/>
                </a:solidFill>
              </a:rPr>
              <a:t>Strategic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44805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Shift from Level 1 (monitored) to Level 3 (semi-automated) maturity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Scalable: AI works 24/7 across unlimited playbooks and accounts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Institutional knowledge captured in GitHub — survives team turnover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Foundation for Level 4: proactive enhancement + drift detection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HITL model: governance and human control preserved throughout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3931920"/>
            <a:ext cx="5669280" cy="2542032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4023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7C10"/>
                </a:solidFill>
              </a:rPr>
              <a:t>Team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4805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Senior engineers freed from repetitive fault diagnosis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Code owners review AI-prepared fixes, not raw failure logs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Teams cards turn HITL into a low-friction inbox workflow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Consistent, high-quality RCA for every failure — junior or senior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D6DCE4"/>
                </a:solidFill>
              </a:rPr>
              <a:t>▸ Built on tools the team already knows: Ansible, GitHub,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Quantifiable efficiency gains against incremental build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92608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298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234440"/>
            <a:ext cx="256032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98448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234440"/>
            <a:ext cx="292608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298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With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1234440"/>
            <a:ext cx="2743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12984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Savings /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09928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773936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Time to detect 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709928"/>
            <a:ext cx="256032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773936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Hours → days (user-reported)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1709928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1773936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&lt; 5 minutes (event-driven)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50808" y="1709928"/>
            <a:ext cx="274320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1773936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~4–48 hrs per failure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76856"/>
            <a:ext cx="292608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340864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Time to diagnose + RCA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2276856"/>
            <a:ext cx="256032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2340864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2–8 hrs (senior engineer)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276856"/>
            <a:ext cx="292608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9592" y="2340864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15–30 min (AI-drafted)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50808" y="2276856"/>
            <a:ext cx="274320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340864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~2–7.5 hrs per failure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43784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907792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Duplicate investigations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2843784"/>
            <a:ext cx="256032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907792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Common (no shared KB)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2843784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9592" y="2907792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Eliminated (dedup + pgvector)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50808" y="2843784"/>
            <a:ext cx="274320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60" y="2907792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Compounding value over time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410712"/>
            <a:ext cx="292608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474720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Engineer toil (reactive)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18688" y="3410712"/>
            <a:ext cx="256032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3474720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30–40% of sprint capacity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3410712"/>
            <a:ext cx="292608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3474720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&lt; 10% (AI handles first-pass)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50808" y="3410712"/>
            <a:ext cx="274320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3474720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~20–30% capacity freed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977639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041648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Knowledge retention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18688" y="3977639"/>
            <a:ext cx="256032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4041648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Lost when engineers leave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3977639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79592" y="4041648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Captured in GitHub + pgvector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50808" y="3977639"/>
            <a:ext cx="274320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4041648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Institutional memory preserved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544568"/>
            <a:ext cx="292608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608576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MTTR (automation failures)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18688" y="4544568"/>
            <a:ext cx="256032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4608576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Baseline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06440" y="4544568"/>
            <a:ext cx="292608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79592" y="4608576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Target: 50% reduction (6 mo.)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50808" y="4544568"/>
            <a:ext cx="2743200" cy="530352"/>
          </a:xfrm>
          <a:prstGeom prst="rect">
            <a:avLst/>
          </a:prstGeom>
          <a:solidFill>
            <a:srgbClr val="0D1B2A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4608576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Faster production recovery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111496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5175504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Code review quality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18688" y="5111496"/>
            <a:ext cx="256032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5175504"/>
            <a:ext cx="245059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Raw failure log review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06440" y="5111496"/>
            <a:ext cx="292608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79592" y="5175504"/>
            <a:ext cx="281635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DCE4"/>
                </a:solidFill>
              </a:rPr>
              <a:t>AI-prepared fix with test results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50808" y="5111496"/>
            <a:ext cx="2743200" cy="530352"/>
          </a:xfrm>
          <a:prstGeom prst="rect">
            <a:avLst/>
          </a:prstGeom>
          <a:solidFill>
            <a:srgbClr val="162A3E"/>
          </a:solidFill>
          <a:ln w="635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23960" y="5175504"/>
            <a:ext cx="263347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7C10"/>
                </a:solidFill>
              </a:rPr>
              <a:t>Higher confidence approvals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</a:rPr>
              <a:t>Note: Specific hour/cost savings should be calibrated against your team's actual sprint velocity and incident data during MVP-1.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Phased delivery with clear milestones and exit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286000" cy="4754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61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Weeks 1–2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286000" cy="452628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105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Phase 0
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95728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pgvector schema migration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Vault secrets configured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AAP webhook template set up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Redis key conventions documented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234440"/>
            <a:ext cx="2286000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261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Weeks 2–4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1737360"/>
            <a:ext cx="2286000" cy="452628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8105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</a:rPr>
              <a:t>Phase 1–2
Ingestion +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395728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FastAPI webhook receiver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Redis Stream consumer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Dedup + rate limit + circuit breaker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Transient error classifier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234440"/>
            <a:ext cx="2286000" cy="475488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61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Weeks 4–6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737360"/>
            <a:ext cx="2286000" cy="452628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8105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A0"/>
                </a:solidFill>
              </a:rPr>
              <a:t>Phase 3–4
AI Worker +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395728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LangGraph ReAct agent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pgvector RAG tool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AWX log + GitHub code tools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GitHub Issue creation + Teams 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1234440"/>
            <a:ext cx="2286000" cy="475488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261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Weeks 6–8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737360"/>
            <a:ext cx="2286000" cy="452628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8105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900"/>
                </a:solidFill>
              </a:rPr>
              <a:t>MVP-1
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395728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End-to-end testing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Code owner accuracy review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Exit criteria: ≥80% accurate issues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Teams channels validated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234440"/>
            <a:ext cx="2286000" cy="475488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126187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Weeks 9–16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737360"/>
            <a:ext cx="2286000" cy="4526280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810512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7C10"/>
                </a:solidFill>
              </a:rPr>
              <a:t>Phase 5–7
MVP-2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395728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GitHub Actions CI/CD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Copilot code enhancement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HITL PR workflow + stale alerts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6DCE4"/>
                </a:solidFill>
              </a:rPr>
              <a:t>▸ Feedback loop + KB update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6400800"/>
            <a:ext cx="457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6400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B900"/>
                </a:solidFill>
              </a:rPr>
              <a:t>Infra Ready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6400800"/>
            <a:ext cx="457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79" y="6400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B900"/>
                </a:solidFill>
              </a:rPr>
              <a:t>Events
Flowing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6400800"/>
            <a:ext cx="457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6400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B900"/>
                </a:solidFill>
              </a:rPr>
              <a:t>Issues
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6400800"/>
            <a:ext cx="457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9" y="6400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B900"/>
                </a:solidFill>
              </a:rPr>
              <a:t>MVP-1
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44200" y="6400800"/>
            <a:ext cx="45720" cy="2560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78440" y="6400800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B900"/>
                </a:solidFill>
              </a:rPr>
              <a:t>MVP-2
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Open Questions &amp; Pre-Implementation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Five items to confirm before development begins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1005840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0292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72184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307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GitHub Copilot License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719072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Copilot Enterprise (native PR/issue chat) vs. Copilot Extensions API have different invocation mechanisms for Phase 5. Confirm what is licensed.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13432"/>
            <a:ext cx="11612880" cy="1005840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313432"/>
            <a:ext cx="50292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551176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8658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AWX Version &amp; Webhook Payload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798064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AWX webhook payload fields vary by version. Confirm the AWX version so the Pydantic ingestion schema matches actual fields before Phase 1 build.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92424"/>
            <a:ext cx="11612880" cy="1005840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392424"/>
            <a:ext cx="50292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630168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655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Ollama Tool-Calling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877056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Confirm gpt-oss:20b supports function/tool calling (required for LangGraph ReAct). If not, identify a supported model (e.g. llama3.1:8b). Run: ollama 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71416"/>
            <a:ext cx="11612880" cy="1005840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471416"/>
            <a:ext cx="50292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709160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445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nomic-embed-text Vector Dimension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956048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Confirm embedding dimension is 768 before running Phase 0 migration. Test: len(get_embeddings().embed_query('test')). If different, update vector(768) in migration SQL.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50408"/>
            <a:ext cx="11612880" cy="1005840"/>
          </a:xfrm>
          <a:prstGeom prst="rect">
            <a:avLst/>
          </a:prstGeom>
          <a:solidFill>
            <a:srgbClr val="162A3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50408"/>
            <a:ext cx="502920" cy="100584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5788152"/>
            <a:ext cx="502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623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B900"/>
                </a:solidFill>
              </a:rPr>
              <a:t>Teams Channels &amp; Webhook URLs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603504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Confirm the 3 channel names (#ansible-automation-alerts, #ansible-automation-failures, #ansible-pr-reviews) exist and Incoming Webhooks are enabled or can be created.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DCE4"/>
                </a:solidFill>
              </a:rPr>
              <a:t>Decisions and actions to kick off MVP-1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87568" cy="402336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Approve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This meeting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09928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Management sign-off on MVP-1 scope, timeline, and team allocation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87752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87752"/>
            <a:ext cx="5687568" cy="40233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Answer Open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063240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Resolve the 5 pre-implementation questions (Slide 16)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41064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41064"/>
            <a:ext cx="5687568" cy="402336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Assign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05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416552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Identify: 1× Python/LangChain dev, 1× Ansible engineer, 1× GitHub/CI engineer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94375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294375"/>
            <a:ext cx="5687568" cy="4023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535838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Run Phase 0 Migration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5838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1–2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769863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Execute pgvector schema migration on staging PostgreSQL instance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7" y="1234440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7" y="1234440"/>
            <a:ext cx="5687568" cy="4023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12984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Configure Vault Secrets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3888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1–2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1709928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Create secret/agentic-ai/* paths with staging credentials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2587752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6207" y="2587752"/>
            <a:ext cx="5687568" cy="40233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Configure AAP Webhook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33888" y="2651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3063240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Set up Notification Template on 1 pilot Job Template for early testing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7" y="3941064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36207" y="3941064"/>
            <a:ext cx="5687568" cy="402336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45936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Scaffold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33888" y="40050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5936" y="4416552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Create projects/02_agentic_failure_pipeline in Langchain_Development_Projects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7" y="5294375"/>
            <a:ext cx="5687568" cy="12344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6207" y="5294375"/>
            <a:ext cx="5687568" cy="402336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5936" y="535838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Begin Phase 1 Build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33888" y="535838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Week 2–4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45936" y="5769863"/>
            <a:ext cx="5440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DCE4"/>
                </a:solidFill>
              </a:rPr>
              <a:t>FastAPI ingestion service → Redis Stream → end-to-end event flow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583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</a:rPr>
              <a:t>CONFIDENTIAL  |  Automation Maturity Model — Agentic AI  |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06060"/>
                </a:solidFill>
              </a:rPr>
              <a:t>From Reactive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to a Self-Improving Automation Estate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063240"/>
            <a:ext cx="7616952" cy="45720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457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D6DCE4"/>
                </a:solidFill>
              </a:rPr>
              <a:t>  ✓  Every AAP failure becomes a learning event — not just an outage ticket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6DCE4"/>
                </a:solidFill>
              </a:rPr>
              <a:t>  ✓  The AI system improves with every merged fix, building institutional memory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6DCE4"/>
                </a:solidFill>
              </a:rPr>
              <a:t>  ✓  Engineers review AI-prepared solutions in Teams and GitHub — not raw log files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6DCE4"/>
                </a:solidFill>
              </a:rPr>
              <a:t>  ✓  Human oversight is preserved at every stage — governance is not optional here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D6DCE4"/>
                </a:solidFill>
              </a:rPr>
              <a:t>  ✓  Built entirely on infrastructure you already own and operate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A0"/>
                </a:solidFill>
              </a:rPr>
              <a:t>Automation Maturity Model Through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44768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6060"/>
                </a:solidFill>
              </a:rPr>
              <a:t>Enterprise Automation Engineering  |  Questions Welcome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terms:created xsi:type="dcterms:W3CDTF">2013-01-27T09:14:16Z</dcterms:created>
  <dcterms:modified xsi:type="dcterms:W3CDTF">2013-01-27T09:15:58Z</dcterms:modified>
  <cp:category/>
</cp:coreProperties>
</file>