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493776" cy="6858000"/>
          </a:xfrm>
          <a:prstGeom prst="rect">
            <a:avLst/>
          </a:prstGeom>
          <a:solidFill>
            <a:srgbClr val="13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07592" y="0"/>
            <a:ext cx="493776" cy="6858000"/>
          </a:xfrm>
          <a:prstGeom prst="rect">
            <a:avLst/>
          </a:prstGeom>
          <a:solidFill>
            <a:srgbClr val="13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95144" y="0"/>
            <a:ext cx="493776" cy="6858000"/>
          </a:xfrm>
          <a:prstGeom prst="rect">
            <a:avLst/>
          </a:prstGeom>
          <a:solidFill>
            <a:srgbClr val="13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82696" y="0"/>
            <a:ext cx="493776" cy="6858000"/>
          </a:xfrm>
          <a:prstGeom prst="rect">
            <a:avLst/>
          </a:prstGeom>
          <a:solidFill>
            <a:srgbClr val="13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70248" y="0"/>
            <a:ext cx="493776" cy="6858000"/>
          </a:xfrm>
          <a:prstGeom prst="rect">
            <a:avLst/>
          </a:prstGeom>
          <a:solidFill>
            <a:srgbClr val="13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57800" y="0"/>
            <a:ext cx="493776" cy="6858000"/>
          </a:xfrm>
          <a:prstGeom prst="rect">
            <a:avLst/>
          </a:prstGeom>
          <a:solidFill>
            <a:srgbClr val="13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5352" y="0"/>
            <a:ext cx="493776" cy="6858000"/>
          </a:xfrm>
          <a:prstGeom prst="rect">
            <a:avLst/>
          </a:prstGeom>
          <a:solidFill>
            <a:srgbClr val="13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232904" y="0"/>
            <a:ext cx="493776" cy="6858000"/>
          </a:xfrm>
          <a:prstGeom prst="rect">
            <a:avLst/>
          </a:prstGeom>
          <a:solidFill>
            <a:srgbClr val="13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0456" y="0"/>
            <a:ext cx="493776" cy="6858000"/>
          </a:xfrm>
          <a:prstGeom prst="rect">
            <a:avLst/>
          </a:prstGeom>
          <a:solidFill>
            <a:srgbClr val="13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208008" y="0"/>
            <a:ext cx="493776" cy="6858000"/>
          </a:xfrm>
          <a:prstGeom prst="rect">
            <a:avLst/>
          </a:prstGeom>
          <a:solidFill>
            <a:srgbClr val="13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95560" y="0"/>
            <a:ext cx="493776" cy="6858000"/>
          </a:xfrm>
          <a:prstGeom prst="rect">
            <a:avLst/>
          </a:prstGeom>
          <a:solidFill>
            <a:srgbClr val="13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183112" y="0"/>
            <a:ext cx="493776" cy="6858000"/>
          </a:xfrm>
          <a:prstGeom prst="rect">
            <a:avLst/>
          </a:prstGeom>
          <a:solidFill>
            <a:srgbClr val="13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280160"/>
            <a:ext cx="8046720" cy="4297680"/>
          </a:xfrm>
          <a:prstGeom prst="rect">
            <a:avLst/>
          </a:prstGeom>
          <a:solidFill>
            <a:srgbClr val="0F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1280160"/>
            <a:ext cx="8046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146304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FROM PLAYBOOKS TO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24028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</a:rPr>
              <a:t>Intelligent Automation Maturity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5029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063240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A self-healing automation pipeline — AI-driven failure detection,
root cause analysis, and human-approved remediation at enterprise scale.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Enterprise Automation Engineering  |  May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59E0B"/>
                </a:solidFill>
              </a:rPr>
              <a:t>CONFIDENTIAL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2011680"/>
            <a:ext cx="32004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86800" y="2011680"/>
            <a:ext cx="64008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239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30–40%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606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Engineering Toil Reclaimed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3383280"/>
            <a:ext cx="32004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86800" y="3383280"/>
            <a:ext cx="64008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23960" y="34747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&lt;5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3977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Failure Detection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4754880"/>
            <a:ext cx="32004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686800" y="4754880"/>
            <a:ext cx="64008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23960" y="48463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50%+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53492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MTTR Reduction Target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91440" y="3017520"/>
            <a:ext cx="640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168603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What we are proposing — and why it matters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68603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CONFIDENTIAL  |  Intelligent Automation Maturity  |  Enterprise Automation Engineering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11155680" cy="685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We will transform Ansible failure response from reactive toil into an AI-driven, self-improving pipeline — keeping humans firmly in control of every code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240280"/>
            <a:ext cx="3474720" cy="3977639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240280"/>
            <a:ext cx="34747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350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</a:rPr>
              <a:t>The Challenge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807208"/>
            <a:ext cx="3200400" cy="1828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898648"/>
            <a:ext cx="32004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43A40"/>
                </a:solidFill>
              </a:rPr>
              <a:t>›  Automation failures are discovered by end-users, not engineers.
›  Senior staff spend 30–40% of sprint capacity on reactive diagnostics.
›  Root-cause knowledge is lost in email threads and Slack — never reused.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2240280"/>
            <a:ext cx="3474720" cy="3977639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24528" y="2240280"/>
            <a:ext cx="3474720" cy="54864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61688" y="2350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</a:rPr>
              <a:t>The Proposal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1688" y="2807208"/>
            <a:ext cx="3200400" cy="1828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61688" y="2898648"/>
            <a:ext cx="32004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43A40"/>
                </a:solidFill>
              </a:rPr>
              <a:t>›  An event-driven AI pipeline: AAP failure → AI root-cause analysis → GitHub Issue.
›  GitHub Copilot proposes code fixes on a dedicated branch.
›  Engineers approve via Pull Request — nothing merges without human sign-off.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54696" y="2240280"/>
            <a:ext cx="3474720" cy="3977639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54696" y="22402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91856" y="2350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</a:rPr>
              <a:t>The Outcome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1856" y="2807208"/>
            <a:ext cx="3200400" cy="1828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91856" y="2898648"/>
            <a:ext cx="32004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43A40"/>
                </a:solidFill>
              </a:rPr>
              <a:t>›  Move from Level 1 (monitored) to Level 3 (semi-automated) maturity in ~16 weeks.
›  Target: &lt;5 min failure detection, 50% MTTR reduction, 20–30% sprint capacity freed.
›  Institutional knowledge captured permanently in PostgreSQL + GitHub.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27432" y="3054448"/>
            <a:ext cx="5760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00B4D8"/>
                </a:solidFill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168603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The automation debt crisis — four compounding pain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68603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CONFIDENTIAL  |  Intelligent Automation Maturity  |  Enterprise Automation Engineering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5394960" cy="23774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71600"/>
            <a:ext cx="64008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43560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C2626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4447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</a:rPr>
              <a:t>Reactive 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74519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C2626"/>
                </a:solidFill>
              </a:rPr>
              <a:t>Failures discovered by end-users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240280"/>
            <a:ext cx="5120640" cy="1828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33172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3A40"/>
                </a:solidFill>
              </a:rPr>
              <a:t>  · No proactive monitoring of automation health
  · MTTR measured in days, not hours
  · Incidents driven by user complaints, not telemetry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5394960" cy="23774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64008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43560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4447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</a:rPr>
              <a:t>Accumulating Debt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874519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9E0B"/>
                </a:solidFill>
              </a:rPr>
              <a:t>Repeated failures, no shared fix library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240280"/>
            <a:ext cx="5120640" cy="1828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233172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3A40"/>
                </a:solidFill>
              </a:rPr>
              <a:t>  · Playbooks evolve; original authors move on
  · Bug fixes are ad-hoc patches, never systematised
  · Same failure recurs across teams without reuse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977639"/>
            <a:ext cx="5394960" cy="23774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3977639"/>
            <a:ext cx="64008" cy="2377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04164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6DB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05079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</a:rPr>
              <a:t>Lost Knowledge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480559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6DB"/>
                </a:solidFill>
              </a:rPr>
              <a:t>RCA context locked in Slack and email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46320"/>
            <a:ext cx="5120640" cy="1828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4937759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3A40"/>
                </a:solidFill>
              </a:rPr>
              <a:t>  · No connection between failure logs and code changes
  · Onboarding engineers repeat diagnostic work
  · Zero searchable failure-to-fix record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977639"/>
            <a:ext cx="5394960" cy="23774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3977639"/>
            <a:ext cx="64008" cy="2377440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404164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CA678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05079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</a:rPr>
              <a:t>Engineer Toil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480559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CA678"/>
                </a:solidFill>
              </a:rPr>
              <a:t>30–40% of sprint capacity consumed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846320"/>
            <a:ext cx="5120640" cy="1828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4937759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3A40"/>
                </a:solidFill>
              </a:rPr>
              <a:t>  · Senior engineers pulled from strategic work
  · New automation blocked while existing burns
  · Manual, repetitive fault diagnosis — no AI assist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57327" y="3008664"/>
            <a:ext cx="6059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00B4D8"/>
                </a:solidFill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168603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Proposal &amp; Proposed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Automation Maturity Model — 5 levels, 2 MVPs, 16 weeks to Level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68603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CONFIDENTIAL  |  Intelligent Automation Maturity  |  Enterprise Automation Engineering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2121408" cy="4389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121408" cy="457200"/>
          </a:xfrm>
          <a:prstGeom prst="rect">
            <a:avLst/>
          </a:prstGeom>
          <a:solidFill>
            <a:srgbClr val="34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48132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508760"/>
            <a:ext cx="14356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011680"/>
            <a:ext cx="189280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43A40"/>
                </a:solidFill>
              </a:rPr>
              <a:t>Failures found
by users.
Ad-hoc fixes.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03520"/>
            <a:ext cx="1938527" cy="347472"/>
          </a:xfrm>
          <a:prstGeom prst="rect">
            <a:avLst/>
          </a:prstGeom>
          <a:solidFill>
            <a:srgbClr val="34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312664"/>
            <a:ext cx="193852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● 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32461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757D"/>
                </a:solidFill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15768" y="1417320"/>
            <a:ext cx="2121408" cy="4389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15768" y="1417320"/>
            <a:ext cx="2121408" cy="4572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07208" y="148132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7" y="1508760"/>
            <a:ext cx="14356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Monitored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7" y="2011680"/>
            <a:ext cx="189280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43A40"/>
                </a:solidFill>
              </a:rPr>
              <a:t>Failures logged
in PostgreSQL.
Manual RCA.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5736" y="32461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757D"/>
                </a:solidFill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82895" y="1417320"/>
            <a:ext cx="2121408" cy="43891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82895" y="1417320"/>
            <a:ext cx="2121408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74335" y="148132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7255" y="1508760"/>
            <a:ext cx="14356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Intelligent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0055" y="2011680"/>
            <a:ext cx="189280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43A40"/>
                </a:solidFill>
              </a:rPr>
              <a:t>AI detects &amp;
analyses.
GitHub Issues auto-created.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74335" y="5303520"/>
            <a:ext cx="1938527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74335" y="5312664"/>
            <a:ext cx="193852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MVP-1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2863" y="32461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757D"/>
                </a:solidFill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023" y="1417320"/>
            <a:ext cx="2121408" cy="43891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050023" y="1417320"/>
            <a:ext cx="2121408" cy="457200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41463" y="148132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44383" y="1508760"/>
            <a:ext cx="14356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Semi-Auto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7183" y="2011680"/>
            <a:ext cx="189280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43A40"/>
                </a:solidFill>
              </a:rPr>
              <a:t>Copilot proposes
code fixes.
HITL PR review.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41463" y="5303520"/>
            <a:ext cx="1938527" cy="347472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41463" y="5312664"/>
            <a:ext cx="193852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MVP-2  ←  TARGET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9992" y="32461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757D"/>
                </a:solidFill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1" y="1417320"/>
            <a:ext cx="2121408" cy="4389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217151" y="1417320"/>
            <a:ext cx="2121408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08591" y="148132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11511" y="1508760"/>
            <a:ext cx="14356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Self-Healing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4311" y="2011680"/>
            <a:ext cx="189280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43A40"/>
                </a:solidFill>
              </a:rPr>
              <a:t>Proactive fixes,
drift detection,
cross-role learning.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08591" y="5303520"/>
            <a:ext cx="1938527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08591" y="5312664"/>
            <a:ext cx="193852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897880"/>
            <a:ext cx="1115568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5800" y="59253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Proposal: Deliver MVP-1 (L2) in weeks 1–8 and MVP-2 (L3) in weeks 9–16 using existing infrastructure — no new hardware or cloud services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" y="3017520"/>
            <a:ext cx="5577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00B4D8"/>
                </a:solidFill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168603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High-Level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Event-driven pipeline — existing infrastructure, new orchestration layer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68603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CONFIDENTIAL  |  Intelligent Automation Maturity  |  Enterprise Automation Engineering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63040"/>
            <a:ext cx="1261872" cy="2103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463040"/>
            <a:ext cx="1261872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1508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2024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AAP
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Webhook
triggered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1" y="22402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9384" y="1463040"/>
            <a:ext cx="1261872" cy="2103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9384" y="1463040"/>
            <a:ext cx="1261872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02536" y="1508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0824" y="192024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Redis
Stream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0824" y="269748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XADD event
to 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1256" y="22402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1463040"/>
            <a:ext cx="1261872" cy="2103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64408" y="1463040"/>
            <a:ext cx="1261872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37560" y="1508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192024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Filter &amp;
Dedup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8" y="269748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Rate-limit &amp;
circuit-breaker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22402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463040"/>
            <a:ext cx="1261872" cy="2103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99432" y="1463040"/>
            <a:ext cx="126187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72584" y="1508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192024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LangGraph
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269748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AI root-cause
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61304" y="22402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34456" y="1463040"/>
            <a:ext cx="1261872" cy="2103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34456" y="1463040"/>
            <a:ext cx="1261872" cy="411480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07608" y="1508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25896" y="192024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GitHub
Issue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25896" y="269748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Structured
RCA created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96328" y="22402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9480" y="1463040"/>
            <a:ext cx="1261872" cy="2103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269480" y="1463040"/>
            <a:ext cx="1261872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42631" y="1508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192024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Copilot
Fix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269748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Code change
on branch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31352" y="22402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04504" y="1463040"/>
            <a:ext cx="1261872" cy="2103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604504" y="1463040"/>
            <a:ext cx="1261872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77656" y="1508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95944" y="192024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HITL
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95944" y="269748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PR approval
by engineer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66376" y="22402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39528" y="1463040"/>
            <a:ext cx="1261872" cy="2103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939528" y="1463040"/>
            <a:ext cx="1261872" cy="411480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012680" y="1508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30967" y="192024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Deploy +
KB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30967" y="2697480"/>
            <a:ext cx="1124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Merge + vector
store update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" y="3749039"/>
            <a:ext cx="1115568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94360" y="3749039"/>
            <a:ext cx="54864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1520" y="3794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Microsoft Teams Adaptive Cards  ·  Notify code owners at 5 decision points: Issue Created → PR Ready → Stale Reminder → Escalation → Resolved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4407408"/>
            <a:ext cx="5577840" cy="20116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4360" y="4407408"/>
            <a:ext cx="5577840" cy="54864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1520" y="44988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✅  Already deployed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4910328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3A40"/>
                </a:solidFill>
              </a:rPr>
              <a:t>Ansible Automation Platform  ·  PostgreSQL + pgvector  ·  Redis 7 (Docker)  ·  HashiCorp Vault (Docker)  ·  LangChain common/ (Ollama)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4407408"/>
            <a:ext cx="5577840" cy="20116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309360" y="4407408"/>
            <a:ext cx="5577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46520" y="44988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🔨  Build / Configure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4910328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3A40"/>
                </a:solidFill>
              </a:rPr>
              <a:t>FastAPI webhook receiver  ·  Aggregation &amp; filter layer  ·  LangGraph ReAct RCA agent  ·  GitHub Issue creator + Teams notifier  ·  GitHub Actions CI/CD + feedback 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50292" y="3017520"/>
            <a:ext cx="5760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00B4D8"/>
                </a:solidFill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168603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Six non-negotiable engineering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68603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CONFIDENTIAL  |  Intelligent Automation Maturity  |  Enterprise Automation Engineering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389888"/>
            <a:ext cx="3566160" cy="2148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89888"/>
            <a:ext cx="356616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49961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Human-in-the-Loop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65960"/>
            <a:ext cx="3291840" cy="1828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3A40"/>
                </a:solidFill>
              </a:rPr>
              <a:t>No code path can auto-merge. Branch protection enforced in GitHub. Every AI-generated change requires explicit human approval.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389888"/>
            <a:ext cx="3566160" cy="2148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5968" y="1389888"/>
            <a:ext cx="35661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8" y="149961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Data Sovereignty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53128" y="1965960"/>
            <a:ext cx="3291840" cy="1828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53128" y="2057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3A40"/>
                </a:solidFill>
              </a:rPr>
              <a:t>All LLM inference runs on self-hosted Ollama. Failure data (hostnames, IPs, internal paths) never leaves the environment.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7576" y="1389888"/>
            <a:ext cx="3566160" cy="2148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37576" y="1389888"/>
            <a:ext cx="356616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74736" y="149961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Zero-Cost at Rest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4736" y="1965960"/>
            <a:ext cx="3291840" cy="1828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74736" y="2057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3A40"/>
                </a:solidFill>
              </a:rPr>
              <a:t>Redis XREADGROUP BLOCK 5000 sleeps until an event arrives. No polling loops; CPU usage is negligible when idle.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721608"/>
            <a:ext cx="3566160" cy="2148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3721608"/>
            <a:ext cx="3566160" cy="54864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8313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Immutable Audit Trail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297680"/>
            <a:ext cx="3291840" cy="1828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389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3A40"/>
                </a:solidFill>
              </a:rPr>
              <a:t>Every AI analysis, issue created, and PR triggered is appended to agentic_ai_audit_log — a write-only PostgreSQL table.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5968" y="3721608"/>
            <a:ext cx="3566160" cy="2148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15968" y="3721608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53128" y="38313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Confidence-Gated Actions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53128" y="4297680"/>
            <a:ext cx="3291840" cy="1828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53128" y="4389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3A40"/>
                </a:solidFill>
              </a:rPr>
              <a:t>The LangGraph agent only opens a GitHub Issue when confidence ≥ 75%. Below threshold: event logged, team alerted — no noisy automation.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7576" y="3721608"/>
            <a:ext cx="3566160" cy="2148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37576" y="3721608"/>
            <a:ext cx="356616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74736" y="38313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Least-Privilege Access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74736" y="4297680"/>
            <a:ext cx="3291840" cy="1828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4389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3A40"/>
                </a:solidFill>
              </a:rPr>
              <a:t>GitHub token (Vault) scoped to issues:write + PR:read + contents:read. No write access to protected or default branches.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" y="3017520"/>
            <a:ext cx="4846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168603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Pipeline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HITL approval workflow and intelligent deduplication safeguards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68603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CONFIDENTIAL  |  Intelligent Automation Maturity  |  Enterprise Automation Engineering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5303520" cy="5074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71600"/>
            <a:ext cx="530352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14264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Human-in-the-Loop Approval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1920240"/>
            <a:ext cx="347472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1947672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AI Issue Created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23113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Structured RCA with confidence score
and top-3 similar resolved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2267712"/>
            <a:ext cx="9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|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2670048"/>
            <a:ext cx="347472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2697479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6700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Copilot Fix Applied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98094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Code change on ai-fix/issue-{N} branch
CI: ansible-lint + yamllint + molecule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017520"/>
            <a:ext cx="9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|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3419856"/>
            <a:ext cx="347472" cy="347472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3447288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4198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PR Review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7307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≥1 code-owner approval  ·  No auto-merge
6-item review checklist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767328"/>
            <a:ext cx="9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|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4169664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4197096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16966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Day 3 Stale Alert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4805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Teams reminder to assignees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4517136"/>
            <a:ext cx="9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|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4919472"/>
            <a:ext cx="34747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" y="4946904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9194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Day 7 Escalation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2303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Teams card escalated to Tech Lead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" y="5266944"/>
            <a:ext cx="9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|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" y="5669279"/>
            <a:ext cx="347472" cy="347472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5696712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566927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Merge + KB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980175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pgvector re-embedded  ·  Redis cache cleared
Audit log updated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371600"/>
            <a:ext cx="5577840" cy="5074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1371600"/>
            <a:ext cx="55778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73368" y="14264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Pipeline Safeguards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73368" y="1920240"/>
            <a:ext cx="64008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19568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Deduplication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22219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3A40"/>
                </a:solidFill>
              </a:rPr>
              <a:t>Redis key (SHA-256, TTL 7 days) — same failure never creates two GitHub Issues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73368" y="2670048"/>
            <a:ext cx="6400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27066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Rate Limiting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29718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3A40"/>
                </a:solidFill>
              </a:rPr>
              <a:t>Max 1 AI analysis per playbook per 24 hours — controls LLM inference cost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73368" y="3419856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92240" y="3456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Circuit Breaker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37216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3A40"/>
                </a:solidFill>
              </a:rPr>
              <a:t>&gt;20 failures/hour on one playbook → CRITICAL Teams alert, bypass AI, escalate to human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73368" y="4169664"/>
            <a:ext cx="64008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9224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Confidence Gate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44714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3A40"/>
                </a:solidFill>
              </a:rPr>
              <a:t>&lt;75% confidence → log only, no issue created, no noisy automation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73368" y="4919472"/>
            <a:ext cx="64008" cy="502920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92240" y="49560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Structured Output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522122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3A40"/>
                </a:solidFill>
              </a:rPr>
              <a:t>LangGraph uses format='json' — LLM output is schema-validated, never executed raw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73368" y="5669279"/>
            <a:ext cx="64008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92240" y="570585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Prompt-Injection Defence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0" y="597103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3A40"/>
                </a:solidFill>
              </a:rPr>
              <a:t>Log sanitisation strips shell escapes before LLM input; webhook token validated via Vault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7" y="3017520"/>
            <a:ext cx="5074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00B4D8"/>
                </a:solidFill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168603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Benefits &amp;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Quantifiable gains across operational, technical, and strategic dimensions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68603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CONFIDENTIAL  |  Intelligent Automation Maturity  |  Enterprise Automation Engineering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389888"/>
            <a:ext cx="292608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463040"/>
            <a:ext cx="2816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3300" y="1389888"/>
            <a:ext cx="256032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6452" y="1463040"/>
            <a:ext cx="245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79" y="1389888"/>
            <a:ext cx="301752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9631" y="1463040"/>
            <a:ext cx="29077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With Solution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66859" y="1389888"/>
            <a:ext cx="246888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40011" y="1463040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Saving / Gain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1828800"/>
            <a:ext cx="292608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1901952"/>
            <a:ext cx="2816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Failure Detection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3300" y="1828800"/>
            <a:ext cx="256032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16452" y="1901952"/>
            <a:ext cx="24505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Hours to days (user-reported)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79" y="1828800"/>
            <a:ext cx="301752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99631" y="1901952"/>
            <a:ext cx="29077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CA678"/>
                </a:solidFill>
              </a:rPr>
              <a:t>&lt; 5 minutes (event-driven)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6859" y="1828800"/>
            <a:ext cx="246888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0011" y="1901952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</a:rPr>
              <a:t>~4–48 hrs saved per event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368296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" y="2441448"/>
            <a:ext cx="2816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Time to RCA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43300" y="2368296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16452" y="2441448"/>
            <a:ext cx="24505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2–8 hrs (senior engineer)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2368296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9631" y="2441448"/>
            <a:ext cx="29077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CA678"/>
                </a:solidFill>
              </a:rPr>
              <a:t>15–30 min (AI first-pass)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66859" y="2368296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0011" y="2441448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</a:rPr>
              <a:t>~2–7.5 hrs reclaimed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907792"/>
            <a:ext cx="292608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" y="2980944"/>
            <a:ext cx="2816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Duplicate Investigations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43300" y="2907792"/>
            <a:ext cx="256032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16452" y="2980944"/>
            <a:ext cx="24505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Common — no shared knowledge 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79" y="2907792"/>
            <a:ext cx="301752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99631" y="2980944"/>
            <a:ext cx="29077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CA678"/>
                </a:solidFill>
              </a:rPr>
              <a:t>Eliminated via dedup + pgvector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66859" y="2907792"/>
            <a:ext cx="246888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0011" y="2980944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</a:rPr>
              <a:t>Compounding value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3447288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7512" y="3520440"/>
            <a:ext cx="2816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Engineer Reactive Toil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43300" y="3447288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16452" y="3520440"/>
            <a:ext cx="24505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30–40% of sprint capacity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79" y="3447288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99631" y="3520440"/>
            <a:ext cx="29077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CA678"/>
                </a:solidFill>
              </a:rPr>
              <a:t>&lt; 10% (AI handles first-pass)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66859" y="3447288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40011" y="3520440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</a:rPr>
              <a:t>20–30% capacity freed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3986784"/>
            <a:ext cx="292608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7512" y="4059936"/>
            <a:ext cx="2816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Knowledge Retention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43300" y="3986784"/>
            <a:ext cx="256032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16452" y="4059936"/>
            <a:ext cx="24505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Lost when engineers leave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79" y="3986784"/>
            <a:ext cx="301752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99631" y="4059936"/>
            <a:ext cx="29077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CA678"/>
                </a:solidFill>
              </a:rPr>
              <a:t>Captured in GitHub + pgvector permanently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66859" y="3986784"/>
            <a:ext cx="246888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240011" y="4059936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</a:rPr>
              <a:t>Institutional memory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4526280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7512" y="4599432"/>
            <a:ext cx="2816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MTTR (automation)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43300" y="452628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16452" y="4599432"/>
            <a:ext cx="24505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Baseline — unmeasured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79" y="4526280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99631" y="4599432"/>
            <a:ext cx="29077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CA678"/>
                </a:solidFill>
              </a:rPr>
              <a:t>Target: 50% reduction at 6 months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66859" y="4526280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40011" y="4599432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</a:rPr>
              <a:t>Faster production recovery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" y="5065776"/>
            <a:ext cx="292608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67512" y="5138928"/>
            <a:ext cx="2816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Code Review Quality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43300" y="5065776"/>
            <a:ext cx="256032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616452" y="5138928"/>
            <a:ext cx="24505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Raw failure log review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79" y="5065776"/>
            <a:ext cx="301752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199631" y="5138928"/>
            <a:ext cx="29077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CA678"/>
                </a:solidFill>
              </a:rPr>
              <a:t>AI-prepared fix + CI test results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66859" y="5065776"/>
            <a:ext cx="2468880" cy="5029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240011" y="5138928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</a:rPr>
              <a:t>Higher-confidence approvals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" y="60533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757D"/>
                </a:solidFill>
              </a:rPr>
              <a:t>Note: Hour and cost savings should be calibrated against actual sprint velocity and incident data during MVP-1 baseline measurement.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" y="3017520"/>
            <a:ext cx="530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00B4D8"/>
                </a:solidFill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168603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Phased delivery — clear exit criteria at every milestone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68603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CONFIDENTIAL  |  Intelligent Automation Maturity  |  Enterprise Automation Engineering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1115568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91640" y="1371600"/>
            <a:ext cx="182880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490472"/>
            <a:ext cx="2377440" cy="36576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490472"/>
            <a:ext cx="237744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5819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Weeks 1–2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874519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Phase 0
Foundation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542032"/>
            <a:ext cx="2194560" cy="228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633472"/>
            <a:ext cx="22402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3A40"/>
                </a:solidFill>
              </a:rPr>
              <a:t>·  pgvector schema migration
·  Vault secrets configured
·  AAP webhook template
·  Redis key conventions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371600"/>
            <a:ext cx="182880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63240" y="1490472"/>
            <a:ext cx="2377440" cy="36576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063240" y="1490472"/>
            <a:ext cx="23774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54680" y="15819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Weeks 2–4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1874519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Phase 1–2
Ingestion + Filter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2542032"/>
            <a:ext cx="2194560" cy="228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54680" y="2633472"/>
            <a:ext cx="22402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3A40"/>
                </a:solidFill>
              </a:rPr>
              <a:t>·  FastAPI webhook receiver
·  Redis Stream consumer
·  Dedup + rate-limit + circuit-breaker
·  Transient error classifier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1371600"/>
            <a:ext cx="182880" cy="182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532120" y="1490472"/>
            <a:ext cx="2377440" cy="36576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532120" y="1490472"/>
            <a:ext cx="23774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23560" y="15819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Weeks 4–6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1874519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Phase 3–4
AI Worker + Issues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60" y="2542032"/>
            <a:ext cx="219456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23560" y="2633472"/>
            <a:ext cx="22402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3A40"/>
                </a:solidFill>
              </a:rPr>
              <a:t>·  LangGraph ReAct agent
·  pgvector RAG tool
·  AWX log + GitHub code tools
·  GitHub Issue + Teams card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1371600"/>
            <a:ext cx="182880" cy="182880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01000" y="1490472"/>
            <a:ext cx="1737360" cy="36576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01000" y="1490472"/>
            <a:ext cx="1737360" cy="54864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92440" y="15819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Weeks 6–8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1874519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MVP-1  ✓
Validation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2542032"/>
            <a:ext cx="1554480" cy="22860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92440" y="2633472"/>
            <a:ext cx="1600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3A40"/>
                </a:solidFill>
              </a:rPr>
              <a:t>·  End-to-end testing
·  Code-owner accuracy review
·  Exit: ≥80% accurate issues
·  Teams channels validated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721340" y="1371600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829800" y="1490472"/>
            <a:ext cx="1965960" cy="36576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829800" y="1490472"/>
            <a:ext cx="1965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921240" y="158191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Weeks 9–16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18745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MVP-2  ✓
Remediation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21240" y="2542032"/>
            <a:ext cx="178308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21240" y="2633472"/>
            <a:ext cx="1828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3A40"/>
                </a:solidFill>
              </a:rPr>
              <a:t>·  GitHub Actions CI/CD
·  Copilot code fixes
·  HITL PR + stale alerts
·  Feedback loop + KB update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5285232"/>
            <a:ext cx="1115568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" y="53766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Immediate Next Steps (This Meeting)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5760720"/>
            <a:ext cx="2468880" cy="65836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4360" y="5760720"/>
            <a:ext cx="246888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94360" y="5760720"/>
            <a:ext cx="32004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592531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579729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Approve Proposal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" y="608990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3A40"/>
                </a:solidFill>
              </a:rPr>
              <a:t>Management sign-off on MVP-1 scope, timeline, and team allocation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5760720"/>
            <a:ext cx="3154680" cy="65836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200400" y="5760720"/>
            <a:ext cx="31546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200400" y="5760720"/>
            <a:ext cx="32004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200400" y="592531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66160" y="57972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Resolve Open Questions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66160" y="60899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3A40"/>
                </a:solidFill>
              </a:rPr>
              <a:t>GitHub Copilot tier  ·  AWX webhook version  ·  Ollama tool-calling support  ·  Teams channel webhooks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5760720"/>
            <a:ext cx="2743200" cy="65836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492240" y="5760720"/>
            <a:ext cx="2743200" cy="45720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492240" y="5760720"/>
            <a:ext cx="320040" cy="658368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92240" y="592531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579729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Assign Team (Week 1)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0" y="6089904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3A40"/>
                </a:solidFill>
              </a:rPr>
              <a:t>1× Python/LangChain dev  ·  1× Ansible engineer  ·  1× GitHub/CI engineer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18320" y="5760720"/>
            <a:ext cx="2560320" cy="65836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418320" y="5760720"/>
            <a:ext cx="25603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418320" y="5760720"/>
            <a:ext cx="32004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18320" y="592531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5797296"/>
            <a:ext cx="2148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Run Phase 0 (Weeks 1–2)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61220" y="5976306"/>
            <a:ext cx="2148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343A40"/>
                </a:solidFill>
              </a:rPr>
              <a:t>pgvector</a:t>
            </a:r>
            <a:r>
              <a:rPr sz="900" b="0" i="0" dirty="0">
                <a:solidFill>
                  <a:srgbClr val="343A40"/>
                </a:solidFill>
              </a:rPr>
              <a:t> schema migration on staging  ·  Vault secret paths  ·  AAP </a:t>
            </a:r>
            <a:r>
              <a:rPr sz="900" b="0" i="0" dirty="0" err="1">
                <a:solidFill>
                  <a:srgbClr val="343A40"/>
                </a:solidFill>
              </a:rPr>
              <a:t>webhook</a:t>
            </a:r>
            <a:r>
              <a:rPr sz="900" b="0" i="0" dirty="0">
                <a:solidFill>
                  <a:srgbClr val="343A40"/>
                </a:solidFill>
              </a:rPr>
              <a:t> on pilot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1553</Words>
  <Application>Microsoft Office PowerPoint</Application>
  <PresentationFormat>Widescreen</PresentationFormat>
  <Paragraphs>236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vsrivastava</cp:lastModifiedBy>
  <cp:revision>2</cp:revision>
  <dcterms:created xsi:type="dcterms:W3CDTF">2013-01-27T09:14:16Z</dcterms:created>
  <dcterms:modified xsi:type="dcterms:W3CDTF">2026-05-05T09:22:48Z</dcterms:modified>
  <cp:category/>
</cp:coreProperties>
</file>