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Agentic AI Development Framework</a:t>
            </a:r>
          </a:p>
        </p:txBody>
      </p:sp>
      <p:sp>
        <p:nvSpPr>
          <p:cNvPr id="4" name="TextBox 3"/>
          <p:cNvSpPr txBox="1"/>
          <p:nvPr/>
        </p:nvSpPr>
        <p:spPr>
          <a:xfrm>
            <a:off x="914400" y="3840480"/>
            <a:ext cx="7315200" cy="731520"/>
          </a:xfrm>
          <a:prstGeom prst="rect">
            <a:avLst/>
          </a:prstGeom>
          <a:noFill/>
        </p:spPr>
        <p:txBody>
          <a:bodyPr wrap="none">
            <a:spAutoFit/>
          </a:bodyPr>
          <a:lstStyle/>
          <a:p>
            <a:pPr algn="ctr">
              <a:defRPr sz="2400">
                <a:solidFill>
                  <a:srgbClr val="FFFFFF"/>
                </a:solidFill>
              </a:defRPr>
            </a:pPr>
            <a:r>
              <a:t>Accelerating Enterprise AI Innovation from Weeks to Minutes</a:t>
            </a:r>
          </a:p>
        </p:txBody>
      </p:sp>
      <p:sp>
        <p:nvSpPr>
          <p:cNvPr id="5" name="TextBox 4"/>
          <p:cNvSpPr txBox="1"/>
          <p:nvPr/>
        </p:nvSpPr>
        <p:spPr>
          <a:xfrm>
            <a:off x="914400" y="5943600"/>
            <a:ext cx="7315200" cy="457200"/>
          </a:xfrm>
          <a:prstGeom prst="rect">
            <a:avLst/>
          </a:prstGeom>
          <a:noFill/>
        </p:spPr>
        <p:txBody>
          <a:bodyPr wrap="none">
            <a:spAutoFit/>
          </a:bodyPr>
          <a:lstStyle/>
          <a:p>
            <a:pPr algn="ctr">
              <a:defRPr sz="1400">
                <a:solidFill>
                  <a:srgbClr val="C8DCF0"/>
                </a:solidFill>
              </a:defRPr>
            </a:pPr>
            <a:r>
              <a:t>Executive Presentation |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Executive Summary</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endParaRPr/>
          </a:p>
          <a:p>
            <a:pPr>
              <a:spcBef>
                <a:spcPts val="0"/>
              </a:spcBef>
              <a:defRPr sz="1600" b="1">
                <a:solidFill>
                  <a:srgbClr val="0078D4"/>
                </a:solidFill>
              </a:defRPr>
            </a:pPr>
            <a:r>
              <a:t>The Strategic Challenge</a:t>
            </a:r>
          </a:p>
          <a:p>
            <a:pPr>
              <a:spcAft>
                <a:spcPts val="800"/>
              </a:spcAft>
              <a:defRPr sz="1100">
                <a:solidFill>
                  <a:srgbClr val="323232"/>
                </a:solidFill>
              </a:defRPr>
            </a:pPr>
            <a:r>
              <a:t>Organizations investing in AI face a critical bottleneck: Every new AI initiative requires 15-20 minutes of infrastructure setup per project—multiplied across teams, this translates to thousands of wasted engineering hours annually. Complex dependencies on LLM orchestration, vector stores, observability, and security create barriers to rapid innovation.</a:t>
            </a:r>
          </a:p>
          <a:p>
            <a:pPr>
              <a:spcBef>
                <a:spcPts val="1200"/>
              </a:spcBef>
              <a:defRPr sz="1600" b="1">
                <a:solidFill>
                  <a:srgbClr val="0078D4"/>
                </a:solidFill>
              </a:defRPr>
            </a:pPr>
            <a:r>
              <a:t>Our Transformative Solution</a:t>
            </a:r>
          </a:p>
          <a:p>
            <a:pPr>
              <a:spcAft>
                <a:spcPts val="800"/>
              </a:spcAft>
              <a:defRPr sz="1100">
                <a:solidFill>
                  <a:srgbClr val="323232"/>
                </a:solidFill>
              </a:defRPr>
            </a:pPr>
            <a:r>
              <a:t>An enterprise-grade AI development platform that eliminates infrastructure friction. Our SDK-powered framework reduces project inception from 15 minutes to under 2 minutes—an 87% efficiency gain—while automatically enforcing production-ready patterns, 90% test coverage, and enterprise security standards.</a:t>
            </a:r>
          </a:p>
          <a:p>
            <a:pPr>
              <a:spcBef>
                <a:spcPts val="1200"/>
              </a:spcBef>
              <a:defRPr sz="1600" b="1">
                <a:solidFill>
                  <a:srgbClr val="0078D4"/>
                </a:solidFill>
              </a:defRPr>
            </a:pPr>
            <a:r>
              <a:t>Compelling Value Proposition</a:t>
            </a:r>
          </a:p>
          <a:p>
            <a:pPr>
              <a:spcAft>
                <a:spcPts val="800"/>
              </a:spcAft>
              <a:defRPr sz="1100">
                <a:solidFill>
                  <a:srgbClr val="323232"/>
                </a:solidFill>
              </a:defRPr>
            </a:pPr>
            <a:r>
              <a:t>💰 ROI Impact: 87% faster project setup = 10x more AI initiatives per quarter</a:t>
            </a:r>
            <a:br/>
            <a:r>
              <a:t>🔒 Risk Mitigation: Built-in Vault integration, rate limiting, and audit trails ensure compliance</a:t>
            </a:r>
            <a:br/>
            <a:r>
              <a:t>⚡ Competitive Advantage: Composable architecture enables rapid experimentation and deployment</a:t>
            </a:r>
            <a:br/>
            <a:r>
              <a:t>📊 Quality Guarantee: Automated testing with 90% coverage eliminates production surprises</a:t>
            </a:r>
            <a:br/>
            <a:r>
              <a:t>🎯 Strategic Enablement: Teams focus on business logic, not infrastructure plumbing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Who Benefits from This Framework?</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pPr>
              <a:spcAft>
                <a:spcPts val="1600"/>
              </a:spcAft>
              <a:defRPr sz="1800" b="1">
                <a:solidFill>
                  <a:srgbClr val="107C10"/>
                </a:solidFill>
              </a:defRPr>
            </a:pPr>
            <a:r>
              <a:t>Strategic Alignment Across Your Organization</a:t>
            </a:r>
          </a:p>
          <a:p>
            <a:pPr>
              <a:spcBef>
                <a:spcPts val="0"/>
              </a:spcBef>
              <a:defRPr sz="1300" b="1">
                <a:solidFill>
                  <a:srgbClr val="0078D4"/>
                </a:solidFill>
              </a:defRPr>
            </a:pPr>
            <a:r>
              <a:t>🎯 Executive Leadership</a:t>
            </a:r>
          </a:p>
          <a:p>
            <a:pPr lvl="1">
              <a:spcAft>
                <a:spcPts val="400"/>
              </a:spcAft>
              <a:defRPr sz="1000">
                <a:solidFill>
                  <a:srgbClr val="323232"/>
                </a:solidFill>
              </a:defRPr>
            </a:pPr>
            <a:r>
              <a:t>Accelerate AI transformation initiatives with measurable ROI. Reduce time-to-market by 87% while maintaining enterprise-grade security and compliance standards.</a:t>
            </a:r>
          </a:p>
          <a:p>
            <a:pPr>
              <a:spcBef>
                <a:spcPts val="1000"/>
              </a:spcBef>
              <a:defRPr sz="1300" b="1">
                <a:solidFill>
                  <a:srgbClr val="0078D4"/>
                </a:solidFill>
              </a:defRPr>
            </a:pPr>
            <a:r>
              <a:t>💼 Engineering Managers</a:t>
            </a:r>
          </a:p>
          <a:p>
            <a:pPr lvl="1">
              <a:spcAft>
                <a:spcPts val="400"/>
              </a:spcAft>
              <a:defRPr sz="1000">
                <a:solidFill>
                  <a:srgbClr val="323232"/>
                </a:solidFill>
              </a:defRPr>
            </a:pPr>
            <a:r>
              <a:t>Empower your teams with production-ready infrastructure. Eliminate boilerplate setup, enforce quality standards, and scale AI development without expanding headcount.</a:t>
            </a:r>
          </a:p>
          <a:p>
            <a:pPr>
              <a:spcBef>
                <a:spcPts val="1000"/>
              </a:spcBef>
              <a:defRPr sz="1300" b="1">
                <a:solidFill>
                  <a:srgbClr val="0078D4"/>
                </a:solidFill>
              </a:defRPr>
            </a:pPr>
            <a:r>
              <a:t>👨‍💻 Development Teams</a:t>
            </a:r>
          </a:p>
          <a:p>
            <a:pPr lvl="1">
              <a:spcAft>
                <a:spcPts val="400"/>
              </a:spcAft>
              <a:defRPr sz="1000">
                <a:solidFill>
                  <a:srgbClr val="323232"/>
                </a:solidFill>
              </a:defRPr>
            </a:pPr>
            <a:r>
              <a:t>Focus on innovation, not infrastructure. Pre-built integrations, automated testing, and shared components free developers to solve business problems, not plumbing.</a:t>
            </a:r>
          </a:p>
          <a:p>
            <a:pPr>
              <a:spcBef>
                <a:spcPts val="1000"/>
              </a:spcBef>
              <a:defRPr sz="1300" b="1">
                <a:solidFill>
                  <a:srgbClr val="0078D4"/>
                </a:solidFill>
              </a:defRPr>
            </a:pPr>
            <a:r>
              <a:t>🔬 Data Scientists &amp; AI Researchers</a:t>
            </a:r>
          </a:p>
          <a:p>
            <a:pPr lvl="1">
              <a:spcAft>
                <a:spcPts val="400"/>
              </a:spcAft>
              <a:defRPr sz="1000">
                <a:solidFill>
                  <a:srgbClr val="323232"/>
                </a:solidFill>
              </a:defRPr>
            </a:pPr>
            <a:r>
              <a:t>Rapidly prototype and productionize AI models. Seamless path from experimentation to production deployment with built-in observability and performance tracking.</a:t>
            </a:r>
          </a:p>
          <a:p>
            <a:pPr>
              <a:spcBef>
                <a:spcPts val="1000"/>
              </a:spcBef>
              <a:defRPr sz="1300" b="1">
                <a:solidFill>
                  <a:srgbClr val="0078D4"/>
                </a:solidFill>
              </a:defRPr>
            </a:pPr>
            <a:r>
              <a:t>🏢 IT Operations &amp; DevOps</a:t>
            </a:r>
          </a:p>
          <a:p>
            <a:pPr lvl="1">
              <a:spcAft>
                <a:spcPts val="400"/>
              </a:spcAft>
              <a:defRPr sz="1000">
                <a:solidFill>
                  <a:srgbClr val="323232"/>
                </a:solidFill>
              </a:defRPr>
            </a:pPr>
            <a:r>
              <a:t>Standardized architecture reduces operational complexity. Vault integration, rate limiting, and retry logic ensure reliability at scale.</a:t>
            </a:r>
          </a:p>
          <a:p>
            <a:pPr>
              <a:spcBef>
                <a:spcPts val="1000"/>
              </a:spcBef>
              <a:defRPr sz="1300" b="1">
                <a:solidFill>
                  <a:srgbClr val="0078D4"/>
                </a:solidFill>
              </a:defRPr>
            </a:pPr>
            <a:r>
              <a:t>📊 Product &amp; Business Stakeholders</a:t>
            </a:r>
          </a:p>
          <a:p>
            <a:pPr lvl="1">
              <a:spcAft>
                <a:spcPts val="400"/>
              </a:spcAft>
              <a:defRPr sz="1000">
                <a:solidFill>
                  <a:srgbClr val="323232"/>
                </a:solidFill>
              </a:defRPr>
            </a:pPr>
            <a:r>
              <a:t>Faster iteration cycles mean quicker validation of AI use cases. Clear metrics and observability enable data-driven product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Comprehensive Scope &amp; Strategic Features</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pPr>
              <a:spcAft>
                <a:spcPts val="1600"/>
              </a:spcAft>
              <a:defRPr sz="1800" b="1">
                <a:solidFill>
                  <a:srgbClr val="107C10"/>
                </a:solidFill>
              </a:defRPr>
            </a:pPr>
            <a:r>
              <a:t>End-to-End AI Agent Development Platform</a:t>
            </a:r>
          </a:p>
          <a:p>
            <a:pPr>
              <a:spcBef>
                <a:spcPts val="0"/>
              </a:spcBef>
              <a:defRPr sz="1300" b="1">
                <a:solidFill>
                  <a:srgbClr val="0078D4"/>
                </a:solidFill>
              </a:defRPr>
            </a:pPr>
            <a:r>
              <a:t>🚀 Rapid Development &amp; Deployment</a:t>
            </a:r>
          </a:p>
          <a:p>
            <a:pPr lvl="1">
              <a:spcAft>
                <a:spcPts val="200"/>
              </a:spcAft>
              <a:defRPr sz="1000">
                <a:solidFill>
                  <a:srgbClr val="323232"/>
                </a:solidFill>
              </a:defRPr>
            </a:pPr>
            <a:r>
              <a:t>• 87% faster project setup (15 min → 2 min) with AI Agent Builder SDK</a:t>
            </a:r>
          </a:p>
          <a:p>
            <a:pPr lvl="1">
              <a:spcAft>
                <a:spcPts val="200"/>
              </a:spcAft>
              <a:defRPr sz="1000">
                <a:solidFill>
                  <a:srgbClr val="323232"/>
                </a:solidFill>
              </a:defRPr>
            </a:pPr>
            <a:r>
              <a:t>• One-command scaffolding generates complete, production-ready project structure</a:t>
            </a:r>
          </a:p>
          <a:p>
            <a:pPr lvl="1">
              <a:spcAft>
                <a:spcPts val="200"/>
              </a:spcAft>
              <a:defRPr sz="1000">
                <a:solidFill>
                  <a:srgbClr val="323232"/>
                </a:solidFill>
              </a:defRPr>
            </a:pPr>
            <a:r>
              <a:t>• Pre-configured CI/CD templates and deployment pipelines</a:t>
            </a:r>
          </a:p>
          <a:p>
            <a:pPr>
              <a:spcBef>
                <a:spcPts val="1000"/>
              </a:spcBef>
              <a:defRPr sz="1300" b="1">
                <a:solidFill>
                  <a:srgbClr val="0078D4"/>
                </a:solidFill>
              </a:defRPr>
            </a:pPr>
            <a:r>
              <a:t>🏗️ Enterprise-Grade Architecture</a:t>
            </a:r>
          </a:p>
          <a:p>
            <a:pPr lvl="1">
              <a:spcAft>
                <a:spcPts val="200"/>
              </a:spcAft>
              <a:defRPr sz="1000">
                <a:solidFill>
                  <a:srgbClr val="323232"/>
                </a:solidFill>
              </a:defRPr>
            </a:pPr>
            <a:r>
              <a:t>• Shared component library: LLM factory, authentication, error handling, caching</a:t>
            </a:r>
          </a:p>
          <a:p>
            <a:pPr lvl="1">
              <a:spcAft>
                <a:spcPts val="200"/>
              </a:spcAft>
              <a:defRPr sz="1000">
                <a:solidFill>
                  <a:srgbClr val="323232"/>
                </a:solidFill>
              </a:defRPr>
            </a:pPr>
            <a:r>
              <a:t>• Composable integrations: Vector stores (pgvector, Chroma, FAISS), Redis caching, Langfuse observability</a:t>
            </a:r>
          </a:p>
          <a:p>
            <a:pPr lvl="1">
              <a:spcAft>
                <a:spcPts val="200"/>
              </a:spcAft>
              <a:defRPr sz="1000">
                <a:solidFill>
                  <a:srgbClr val="323232"/>
                </a:solidFill>
              </a:defRPr>
            </a:pPr>
            <a:r>
              <a:t>• Hierarchical environment management with HashiCorp Vault for secrets</a:t>
            </a:r>
          </a:p>
          <a:p>
            <a:pPr>
              <a:spcBef>
                <a:spcPts val="1000"/>
              </a:spcBef>
              <a:defRPr sz="1300" b="1">
                <a:solidFill>
                  <a:srgbClr val="0078D4"/>
                </a:solidFill>
              </a:defRPr>
            </a:pPr>
            <a:r>
              <a:t>🛡️ Production-Ready Infrastructure</a:t>
            </a:r>
          </a:p>
          <a:p>
            <a:pPr lvl="1">
              <a:spcAft>
                <a:spcPts val="200"/>
              </a:spcAft>
              <a:defRPr sz="1000">
                <a:solidFill>
                  <a:srgbClr val="323232"/>
                </a:solidFill>
              </a:defRPr>
            </a:pPr>
            <a:r>
              <a:t>• Built-in rate limiting (token bucket) and exponential backoff retry logic</a:t>
            </a:r>
          </a:p>
          <a:p>
            <a:pPr lvl="1">
              <a:spcAft>
                <a:spcPts val="200"/>
              </a:spcAft>
              <a:defRPr sz="1000">
                <a:solidFill>
                  <a:srgbClr val="323232"/>
                </a:solidFill>
              </a:defRPr>
            </a:pPr>
            <a:r>
              <a:t>• Comprehensive observability: Token counting, cost tracking, distributed tracing</a:t>
            </a:r>
          </a:p>
          <a:p>
            <a:pPr lvl="1">
              <a:spcAft>
                <a:spcPts val="200"/>
              </a:spcAft>
              <a:defRPr sz="1000">
                <a:solidFill>
                  <a:srgbClr val="323232"/>
                </a:solidFill>
              </a:defRPr>
            </a:pPr>
            <a:r>
              <a:t>• 90% test coverage enforcement with automated test generation</a:t>
            </a:r>
          </a:p>
          <a:p>
            <a:pPr>
              <a:spcBef>
                <a:spcPts val="1000"/>
              </a:spcBef>
              <a:defRPr sz="1300" b="1">
                <a:solidFill>
                  <a:srgbClr val="0078D4"/>
                </a:solidFill>
              </a:defRPr>
            </a:pPr>
            <a:r>
              <a:t>📈 Business Enablement</a:t>
            </a:r>
          </a:p>
          <a:p>
            <a:pPr lvl="1">
              <a:spcAft>
                <a:spcPts val="200"/>
              </a:spcAft>
              <a:defRPr sz="1000">
                <a:solidFill>
                  <a:srgbClr val="323232"/>
                </a:solidFill>
              </a:defRPr>
            </a:pPr>
            <a:r>
              <a:t>• 5-level automation maturity model: From manual operations to autonomous AI agents</a:t>
            </a:r>
          </a:p>
          <a:p>
            <a:pPr lvl="1">
              <a:spcAft>
                <a:spcPts val="200"/>
              </a:spcAft>
              <a:defRPr sz="1000">
                <a:solidFill>
                  <a:srgbClr val="323232"/>
                </a:solidFill>
              </a:defRPr>
            </a:pPr>
            <a:r>
              <a:t>• Real-world use cases: GitHub integration, weather reporting, automation orchestration</a:t>
            </a:r>
          </a:p>
          <a:p>
            <a:pPr lvl="1">
              <a:spcAft>
                <a:spcPts val="200"/>
              </a:spcAft>
              <a:defRPr sz="1000">
                <a:solidFill>
                  <a:srgbClr val="323232"/>
                </a:solidFill>
              </a:defRPr>
            </a:pPr>
            <a:r>
              <a:t>• Extensible plugin architecture for custom integrations and business logic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What is the Agentic AI Development Framework?</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389120"/>
          </a:xfrm>
          <a:prstGeom prst="rect">
            <a:avLst/>
          </a:prstGeom>
          <a:noFill/>
        </p:spPr>
        <p:txBody>
          <a:bodyPr wrap="square">
            <a:spAutoFit/>
          </a:bodyPr>
          <a:lstStyle/>
          <a:p>
            <a:pPr>
              <a:spcAft>
                <a:spcPts val="1600"/>
              </a:spcAft>
              <a:defRPr sz="1800" b="1">
                <a:solidFill>
                  <a:srgbClr val="107C10"/>
                </a:solidFill>
              </a:defRPr>
            </a:pPr>
            <a:r>
              <a:t>The Future of Enterprise AI Development—Available Today</a:t>
            </a:r>
          </a:p>
          <a:p>
            <a:pPr>
              <a:spcAft>
                <a:spcPts val="600"/>
              </a:spcAft>
              <a:defRPr sz="1200">
                <a:solidFill>
                  <a:srgbClr val="323232"/>
                </a:solidFill>
              </a:defRPr>
            </a:pPr>
            <a:r>
              <a:t>Transform how your organization builds and deploys AI agents. This isn't just a framework—it's a complete platform that eliminates the complexity barrier between AI innovation and production reality.</a:t>
            </a:r>
          </a:p>
          <a:p>
            <a:pPr>
              <a:spcAft>
                <a:spcPts val="600"/>
              </a:spcAft>
              <a:defRPr sz="1200">
                <a:solidFill>
                  <a:srgbClr val="323232"/>
                </a:solidFill>
              </a:defRPr>
            </a:pPr>
            <a:endParaRPr/>
          </a:p>
          <a:p>
            <a:pPr>
              <a:spcAft>
                <a:spcPts val="600"/>
              </a:spcAft>
              <a:defRPr sz="1200">
                <a:solidFill>
                  <a:srgbClr val="323232"/>
                </a:solidFill>
              </a:defRPr>
            </a:pPr>
            <a:r>
              <a:t>Built on battle-tested technologies (LangChain, LangGraph, Ollama), our platform provides:</a:t>
            </a:r>
          </a:p>
          <a:p>
            <a:pPr>
              <a:spcAft>
                <a:spcPts val="600"/>
              </a:spcAft>
              <a:defRPr sz="1200">
                <a:solidFill>
                  <a:srgbClr val="323232"/>
                </a:solidFill>
              </a:defRPr>
            </a:pPr>
            <a:endParaRPr/>
          </a:p>
          <a:p>
            <a:pPr>
              <a:spcAft>
                <a:spcPts val="600"/>
              </a:spcAft>
              <a:defRPr sz="1200">
                <a:solidFill>
                  <a:srgbClr val="323232"/>
                </a:solidFill>
              </a:defRPr>
            </a:pPr>
            <a:r>
              <a:t>✅ Zero-Configuration Architecture: Standardized structure means engineers onboard in hours, not weeks</a:t>
            </a:r>
          </a:p>
          <a:p>
            <a:pPr>
              <a:spcAft>
                <a:spcPts val="600"/>
              </a:spcAft>
              <a:defRPr sz="1200">
                <a:solidFill>
                  <a:srgbClr val="323232"/>
                </a:solidFill>
              </a:defRPr>
            </a:pPr>
            <a:r>
              <a:t>✅ Enterprise-Grade Components: Reusable LLM factory, authentication, error handling—already production-hardened</a:t>
            </a:r>
          </a:p>
          <a:p>
            <a:pPr>
              <a:spcAft>
                <a:spcPts val="600"/>
              </a:spcAft>
              <a:defRPr sz="1200">
                <a:solidFill>
                  <a:srgbClr val="323232"/>
                </a:solidFill>
              </a:defRPr>
            </a:pPr>
            <a:r>
              <a:t>✅ One-Command Intelligence: SDK generates complete projects in under 2 minutes, not hours</a:t>
            </a:r>
          </a:p>
          <a:p>
            <a:pPr>
              <a:spcAft>
                <a:spcPts val="600"/>
              </a:spcAft>
              <a:defRPr sz="1200">
                <a:solidFill>
                  <a:srgbClr val="323232"/>
                </a:solidFill>
              </a:defRPr>
            </a:pPr>
            <a:r>
              <a:t>✅ Quality Baked In: 90% test coverage isn't optional—it's automated</a:t>
            </a:r>
          </a:p>
          <a:p>
            <a:pPr>
              <a:spcAft>
                <a:spcPts val="600"/>
              </a:spcAft>
              <a:defRPr sz="1200">
                <a:solidFill>
                  <a:srgbClr val="323232"/>
                </a:solidFill>
              </a:defRPr>
            </a:pPr>
            <a:r>
              <a:t>✅ Security by Default: HashiCorp Vault, rate limiting, audit trails come standard</a:t>
            </a:r>
          </a:p>
          <a:p>
            <a:pPr>
              <a:spcAft>
                <a:spcPts val="600"/>
              </a:spcAft>
              <a:defRPr sz="1200">
                <a:solidFill>
                  <a:srgbClr val="323232"/>
                </a:solidFill>
              </a:defRPr>
            </a:pPr>
            <a:r>
              <a:t>✅ Knowledge Transfer Built-In: Comprehensive guides for Agentic AI, ReAct, and RAG patterns accelerate team velocity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Technology Stack</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1371600" y="1828800"/>
          <a:ext cx="6400800" cy="36576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a:defRPr sz="1200" b="1">
                          <a:solidFill>
                            <a:srgbClr val="FFFFFF"/>
                          </a:solidFill>
                        </a:defRPr>
                      </a:pPr>
                      <a:r>
                        <a:t>Component</a:t>
                      </a:r>
                    </a:p>
                  </a:txBody>
                  <a:tcPr>
                    <a:solidFill>
                      <a:srgbClr val="0078D4"/>
                    </a:solidFill>
                  </a:tcPr>
                </a:tc>
                <a:tc>
                  <a:txBody>
                    <a:bodyPr/>
                    <a:lstStyle/>
                    <a:p>
                      <a:pPr>
                        <a:defRPr sz="1200" b="1">
                          <a:solidFill>
                            <a:srgbClr val="FFFFFF"/>
                          </a:solidFill>
                        </a:defRPr>
                      </a:pPr>
                      <a:r>
                        <a:t>Technology</a:t>
                      </a:r>
                    </a:p>
                  </a:txBody>
                  <a:tcPr>
                    <a:solidFill>
                      <a:srgbClr val="0078D4"/>
                    </a:solidFill>
                  </a:tcPr>
                </a:tc>
                <a:extLst>
                  <a:ext uri="{0D108BD9-81ED-4DB2-BD59-A6C34878D82A}">
                    <a16:rowId xmlns:a16="http://schemas.microsoft.com/office/drawing/2014/main" val="10000"/>
                  </a:ext>
                </a:extLst>
              </a:tr>
              <a:tr h="457200">
                <a:tc>
                  <a:txBody>
                    <a:bodyPr/>
                    <a:lstStyle/>
                    <a:p>
                      <a:pPr>
                        <a:defRPr sz="1100"/>
                      </a:pPr>
                      <a:r>
                        <a:t>LLM Framework</a:t>
                      </a:r>
                    </a:p>
                  </a:txBody>
                  <a:tcPr/>
                </a:tc>
                <a:tc>
                  <a:txBody>
                    <a:bodyPr/>
                    <a:lstStyle/>
                    <a:p>
                      <a:pPr>
                        <a:defRPr sz="1100"/>
                      </a:pPr>
                      <a:r>
                        <a:t>LangChain + LangGraph</a:t>
                      </a:r>
                    </a:p>
                  </a:txBody>
                  <a:tcPr/>
                </a:tc>
                <a:extLst>
                  <a:ext uri="{0D108BD9-81ED-4DB2-BD59-A6C34878D82A}">
                    <a16:rowId xmlns:a16="http://schemas.microsoft.com/office/drawing/2014/main" val="10001"/>
                  </a:ext>
                </a:extLst>
              </a:tr>
              <a:tr h="457200">
                <a:tc>
                  <a:txBody>
                    <a:bodyPr/>
                    <a:lstStyle/>
                    <a:p>
                      <a:pPr>
                        <a:defRPr sz="1100"/>
                      </a:pPr>
                      <a:r>
                        <a:t>LLM Runtime</a:t>
                      </a:r>
                    </a:p>
                  </a:txBody>
                  <a:tcPr>
                    <a:solidFill>
                      <a:srgbClr val="F0F0F0"/>
                    </a:solidFill>
                  </a:tcPr>
                </a:tc>
                <a:tc>
                  <a:txBody>
                    <a:bodyPr/>
                    <a:lstStyle/>
                    <a:p>
                      <a:pPr>
                        <a:defRPr sz="1100"/>
                      </a:pPr>
                      <a:r>
                        <a:t>Ollama (remote hosted or local)</a:t>
                      </a:r>
                    </a:p>
                  </a:txBody>
                  <a:tcPr>
                    <a:solidFill>
                      <a:srgbClr val="F0F0F0"/>
                    </a:solidFill>
                  </a:tcPr>
                </a:tc>
                <a:extLst>
                  <a:ext uri="{0D108BD9-81ED-4DB2-BD59-A6C34878D82A}">
                    <a16:rowId xmlns:a16="http://schemas.microsoft.com/office/drawing/2014/main" val="10002"/>
                  </a:ext>
                </a:extLst>
              </a:tr>
              <a:tr h="457200">
                <a:tc>
                  <a:txBody>
                    <a:bodyPr/>
                    <a:lstStyle/>
                    <a:p>
                      <a:pPr>
                        <a:defRPr sz="1100"/>
                      </a:pPr>
                      <a:r>
                        <a:t>Default Model</a:t>
                      </a:r>
                    </a:p>
                  </a:txBody>
                  <a:tcPr/>
                </a:tc>
                <a:tc>
                  <a:txBody>
                    <a:bodyPr/>
                    <a:lstStyle/>
                    <a:p>
                      <a:pPr>
                        <a:defRPr sz="1100"/>
                      </a:pPr>
                      <a:r>
                        <a:t>gpt-oss:20b (20B parameter OSS model)</a:t>
                      </a:r>
                    </a:p>
                  </a:txBody>
                  <a:tcPr/>
                </a:tc>
                <a:extLst>
                  <a:ext uri="{0D108BD9-81ED-4DB2-BD59-A6C34878D82A}">
                    <a16:rowId xmlns:a16="http://schemas.microsoft.com/office/drawing/2014/main" val="10003"/>
                  </a:ext>
                </a:extLst>
              </a:tr>
              <a:tr h="457200">
                <a:tc>
                  <a:txBody>
                    <a:bodyPr/>
                    <a:lstStyle/>
                    <a:p>
                      <a:pPr>
                        <a:defRPr sz="1100"/>
                      </a:pPr>
                      <a:r>
                        <a:t>Embeddings</a:t>
                      </a:r>
                    </a:p>
                  </a:txBody>
                  <a:tcPr>
                    <a:solidFill>
                      <a:srgbClr val="F0F0F0"/>
                    </a:solidFill>
                  </a:tcPr>
                </a:tc>
                <a:tc>
                  <a:txBody>
                    <a:bodyPr/>
                    <a:lstStyle/>
                    <a:p>
                      <a:pPr>
                        <a:defRPr sz="1100"/>
                      </a:pPr>
                      <a:r>
                        <a:t>nomic-embed-text via Ollama</a:t>
                      </a:r>
                    </a:p>
                  </a:txBody>
                  <a:tcPr>
                    <a:solidFill>
                      <a:srgbClr val="F0F0F0"/>
                    </a:solidFill>
                  </a:tcPr>
                </a:tc>
                <a:extLst>
                  <a:ext uri="{0D108BD9-81ED-4DB2-BD59-A6C34878D82A}">
                    <a16:rowId xmlns:a16="http://schemas.microsoft.com/office/drawing/2014/main" val="10004"/>
                  </a:ext>
                </a:extLst>
              </a:tr>
              <a:tr h="457200">
                <a:tc>
                  <a:txBody>
                    <a:bodyPr/>
                    <a:lstStyle/>
                    <a:p>
                      <a:pPr>
                        <a:defRPr sz="1100"/>
                      </a:pPr>
                      <a:r>
                        <a:t>Secret Management</a:t>
                      </a:r>
                    </a:p>
                  </a:txBody>
                  <a:tcPr/>
                </a:tc>
                <a:tc>
                  <a:txBody>
                    <a:bodyPr/>
                    <a:lstStyle/>
                    <a:p>
                      <a:pPr>
                        <a:defRPr sz="1100"/>
                      </a:pPr>
                      <a:r>
                        <a:t>HashiCorp Vault (optional)</a:t>
                      </a:r>
                    </a:p>
                  </a:txBody>
                  <a:tcPr/>
                </a:tc>
                <a:extLst>
                  <a:ext uri="{0D108BD9-81ED-4DB2-BD59-A6C34878D82A}">
                    <a16:rowId xmlns:a16="http://schemas.microsoft.com/office/drawing/2014/main" val="10005"/>
                  </a:ext>
                </a:extLst>
              </a:tr>
              <a:tr h="457200">
                <a:tc>
                  <a:txBody>
                    <a:bodyPr/>
                    <a:lstStyle/>
                    <a:p>
                      <a:pPr>
                        <a:defRPr sz="1100"/>
                      </a:pPr>
                      <a:r>
                        <a:t>Testing</a:t>
                      </a:r>
                    </a:p>
                  </a:txBody>
                  <a:tcPr>
                    <a:solidFill>
                      <a:srgbClr val="F0F0F0"/>
                    </a:solidFill>
                  </a:tcPr>
                </a:tc>
                <a:tc>
                  <a:txBody>
                    <a:bodyPr/>
                    <a:lstStyle/>
                    <a:p>
                      <a:pPr>
                        <a:defRPr sz="1100"/>
                      </a:pPr>
                      <a:r>
                        <a:t>pytest with 90% coverage requirement</a:t>
                      </a:r>
                    </a:p>
                  </a:txBody>
                  <a:tcPr>
                    <a:solidFill>
                      <a:srgbClr val="F0F0F0"/>
                    </a:solidFill>
                  </a:tcPr>
                </a:tc>
                <a:extLst>
                  <a:ext uri="{0D108BD9-81ED-4DB2-BD59-A6C34878D82A}">
                    <a16:rowId xmlns:a16="http://schemas.microsoft.com/office/drawing/2014/main" val="10006"/>
                  </a:ext>
                </a:extLst>
              </a:tr>
              <a:tr h="457200">
                <a:tc>
                  <a:txBody>
                    <a:bodyPr/>
                    <a:lstStyle/>
                    <a:p>
                      <a:pPr>
                        <a:defRPr sz="1100"/>
                      </a:pPr>
                      <a:r>
                        <a:t>Package Manager</a:t>
                      </a:r>
                    </a:p>
                  </a:txBody>
                  <a:tcPr/>
                </a:tc>
                <a:tc>
                  <a:txBody>
                    <a:bodyPr/>
                    <a:lstStyle/>
                    <a:p>
                      <a:pPr>
                        <a:defRPr sz="1100"/>
                      </a:pPr>
                      <a:r>
                        <a:t>uv (next-gen pip replacement)</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Key Features &amp; Capabilities</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2011680"/>
            <a:ext cx="3474720" cy="1097280"/>
          </a:xfrm>
          <a:prstGeom prst="rect">
            <a:avLst/>
          </a:prstGeom>
          <a:solidFill>
            <a:srgbClr val="F0F0F0"/>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8D4"/>
                </a:solidFill>
              </a:defRPr>
            </a:pPr>
            <a:r>
              <a:t>🚀 SDK Scaffolding</a:t>
            </a:r>
          </a:p>
          <a:p>
            <a:pPr>
              <a:spcBef>
                <a:spcPts val="400"/>
              </a:spcBef>
              <a:defRPr sz="1000">
                <a:solidFill>
                  <a:srgbClr val="323232"/>
                </a:solidFill>
              </a:defRPr>
            </a:pPr>
            <a:r>
              <a:t>Generate production-ready projects in &lt;2 minutes with ai-agent-builder CLI</a:t>
            </a:r>
          </a:p>
        </p:txBody>
      </p:sp>
      <p:sp>
        <p:nvSpPr>
          <p:cNvPr id="5" name="Rectangle 4"/>
          <p:cNvSpPr/>
          <p:nvPr/>
        </p:nvSpPr>
        <p:spPr>
          <a:xfrm>
            <a:off x="4389120" y="2011680"/>
            <a:ext cx="3474720" cy="1097280"/>
          </a:xfrm>
          <a:prstGeom prst="rect">
            <a:avLst/>
          </a:prstGeom>
          <a:solidFill>
            <a:srgbClr val="F0F0F0"/>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8D4"/>
                </a:solidFill>
              </a:defRPr>
            </a:pPr>
            <a:r>
              <a:t>🏭 Shared Architecture</a:t>
            </a:r>
          </a:p>
          <a:p>
            <a:pPr>
              <a:spcBef>
                <a:spcPts val="400"/>
              </a:spcBef>
              <a:defRPr sz="1000">
                <a:solidFill>
                  <a:srgbClr val="323232"/>
                </a:solidFill>
              </a:defRPr>
            </a:pPr>
            <a:r>
              <a:t>Reusable LLM factory, prompts, utilities across all projects</a:t>
            </a:r>
          </a:p>
        </p:txBody>
      </p:sp>
      <p:sp>
        <p:nvSpPr>
          <p:cNvPr id="6" name="Rectangle 5"/>
          <p:cNvSpPr/>
          <p:nvPr/>
        </p:nvSpPr>
        <p:spPr>
          <a:xfrm>
            <a:off x="548640" y="3291840"/>
            <a:ext cx="3474720" cy="1097280"/>
          </a:xfrm>
          <a:prstGeom prst="rect">
            <a:avLst/>
          </a:prstGeom>
          <a:solidFill>
            <a:srgbClr val="F0F0F0"/>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8D4"/>
                </a:solidFill>
              </a:defRPr>
            </a:pPr>
            <a:r>
              <a:t>🔌 Composable Integrations</a:t>
            </a:r>
          </a:p>
          <a:p>
            <a:pPr>
              <a:spcBef>
                <a:spcPts val="400"/>
              </a:spcBef>
              <a:defRPr sz="1000">
                <a:solidFill>
                  <a:srgbClr val="323232"/>
                </a:solidFill>
              </a:defRPr>
            </a:pPr>
            <a:r>
              <a:t>Mix-and-match vector stores, caching, observability</a:t>
            </a:r>
          </a:p>
        </p:txBody>
      </p:sp>
      <p:sp>
        <p:nvSpPr>
          <p:cNvPr id="7" name="Rectangle 6"/>
          <p:cNvSpPr/>
          <p:nvPr/>
        </p:nvSpPr>
        <p:spPr>
          <a:xfrm>
            <a:off x="4389120" y="3291840"/>
            <a:ext cx="3474720" cy="1097280"/>
          </a:xfrm>
          <a:prstGeom prst="rect">
            <a:avLst/>
          </a:prstGeom>
          <a:solidFill>
            <a:srgbClr val="F0F0F0"/>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8D4"/>
                </a:solidFill>
              </a:defRPr>
            </a:pPr>
            <a:r>
              <a:t>🧪 Built-in Testing</a:t>
            </a:r>
          </a:p>
          <a:p>
            <a:pPr>
              <a:spcBef>
                <a:spcPts val="400"/>
              </a:spcBef>
              <a:defRPr sz="1000">
                <a:solidFill>
                  <a:srgbClr val="323232"/>
                </a:solidFill>
              </a:defRPr>
            </a:pPr>
            <a:r>
              <a:t>Pre-configured pytest fixtures, 90% coverage templates</a:t>
            </a:r>
          </a:p>
        </p:txBody>
      </p:sp>
      <p:sp>
        <p:nvSpPr>
          <p:cNvPr id="8" name="Rectangle 7"/>
          <p:cNvSpPr/>
          <p:nvPr/>
        </p:nvSpPr>
        <p:spPr>
          <a:xfrm>
            <a:off x="548640" y="4572000"/>
            <a:ext cx="3474720" cy="1097280"/>
          </a:xfrm>
          <a:prstGeom prst="rect">
            <a:avLst/>
          </a:prstGeom>
          <a:solidFill>
            <a:srgbClr val="F0F0F0"/>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8D4"/>
                </a:solidFill>
              </a:defRPr>
            </a:pPr>
            <a:r>
              <a:t>🔐 Enterprise-Ready</a:t>
            </a:r>
          </a:p>
          <a:p>
            <a:pPr>
              <a:spcBef>
                <a:spcPts val="400"/>
              </a:spcBef>
              <a:defRPr sz="1000">
                <a:solidFill>
                  <a:srgbClr val="323232"/>
                </a:solidFill>
              </a:defRPr>
            </a:pPr>
            <a:r>
              <a:t>Vault integration, rate limiting, retry logic</a:t>
            </a:r>
          </a:p>
        </p:txBody>
      </p:sp>
      <p:sp>
        <p:nvSpPr>
          <p:cNvPr id="9" name="Rectangle 8"/>
          <p:cNvSpPr/>
          <p:nvPr/>
        </p:nvSpPr>
        <p:spPr>
          <a:xfrm>
            <a:off x="4389120" y="4572000"/>
            <a:ext cx="3474720" cy="1097280"/>
          </a:xfrm>
          <a:prstGeom prst="rect">
            <a:avLst/>
          </a:prstGeom>
          <a:solidFill>
            <a:srgbClr val="F0F0F0"/>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8D4"/>
                </a:solidFill>
              </a:defRPr>
            </a:pPr>
            <a:r>
              <a:t>📚 Learning Resources</a:t>
            </a:r>
          </a:p>
          <a:p>
            <a:pPr>
              <a:spcBef>
                <a:spcPts val="400"/>
              </a:spcBef>
              <a:defRPr sz="1000">
                <a:solidFill>
                  <a:srgbClr val="323232"/>
                </a:solidFill>
              </a:defRPr>
            </a:pPr>
            <a:r>
              <a:t>Quick-reference guides for Agentic AI patterns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107C10"/>
                </a:solidFill>
              </a:defRPr>
            </a:pPr>
            <a:r>
              <a:t>The Game-Changer: AI Agent Builder SDK</a:t>
            </a:r>
          </a:p>
        </p:txBody>
      </p:sp>
      <p:sp>
        <p:nvSpPr>
          <p:cNvPr id="3" name="Rectangle 2"/>
          <p:cNvSpPr/>
          <p:nvPr/>
        </p:nvSpPr>
        <p:spPr>
          <a:xfrm>
            <a:off x="457200" y="1188720"/>
            <a:ext cx="8229600" cy="18288"/>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pPr>
              <a:spcAft>
                <a:spcPts val="1200"/>
              </a:spcAft>
              <a:defRPr sz="1600" b="1">
                <a:solidFill>
                  <a:srgbClr val="107C10"/>
                </a:solidFill>
              </a:defRPr>
            </a:pPr>
            <a:r>
              <a:t>Transform 15 Minutes of Manual Setup into 2 Minutes of Automated Excellence</a:t>
            </a:r>
          </a:p>
          <a:p>
            <a:pPr>
              <a:spcBef>
                <a:spcPts val="800"/>
              </a:spcBef>
              <a:defRPr sz="1300" b="1">
                <a:solidFill>
                  <a:srgbClr val="0078D4"/>
                </a:solidFill>
              </a:defRPr>
            </a:pPr>
            <a:r>
              <a:t>❌ Traditional Approach: The Innovation Tax (15+ minutes per project)</a:t>
            </a:r>
          </a:p>
          <a:p>
            <a:pPr lvl="1">
              <a:spcAft>
                <a:spcPts val="200"/>
              </a:spcAft>
              <a:defRPr sz="1000">
                <a:solidFill>
                  <a:srgbClr val="323232"/>
                </a:solidFill>
              </a:defRPr>
            </a:pPr>
            <a:r>
              <a:t>⏰ 5 min: Manually scaffold directories, copy-paste boilerplate from old projects</a:t>
            </a:r>
          </a:p>
          <a:p>
            <a:pPr lvl="1">
              <a:spcAft>
                <a:spcPts val="200"/>
              </a:spcAft>
              <a:defRPr sz="1000">
                <a:solidFill>
                  <a:srgbClr val="323232"/>
                </a:solidFill>
              </a:defRPr>
            </a:pPr>
            <a:r>
              <a:t>🔧 4 min: Configure environment variables, API keys, connection strings</a:t>
            </a:r>
          </a:p>
          <a:p>
            <a:pPr lvl="1">
              <a:spcAft>
                <a:spcPts val="200"/>
              </a:spcAft>
              <a:defRPr sz="1000">
                <a:solidFill>
                  <a:srgbClr val="323232"/>
                </a:solidFill>
              </a:defRPr>
            </a:pPr>
            <a:r>
              <a:t>🧪 3 min: Write test fixtures, mock LLM responses, setup coverage tooling</a:t>
            </a:r>
          </a:p>
          <a:p>
            <a:pPr lvl="1">
              <a:spcAft>
                <a:spcPts val="200"/>
              </a:spcAft>
              <a:defRPr sz="1000">
                <a:solidFill>
                  <a:srgbClr val="323232"/>
                </a:solidFill>
              </a:defRPr>
            </a:pPr>
            <a:r>
              <a:t>🔌 2 min: Integrate vector stores, caching, observability from scratch</a:t>
            </a:r>
          </a:p>
          <a:p>
            <a:pPr lvl="1">
              <a:spcAft>
                <a:spcPts val="200"/>
              </a:spcAft>
              <a:defRPr sz="1000">
                <a:solidFill>
                  <a:srgbClr val="323232"/>
                </a:solidFill>
              </a:defRPr>
            </a:pPr>
            <a:r>
              <a:t>📝 1 min: Update documentation, add project to registry</a:t>
            </a:r>
          </a:p>
          <a:p>
            <a:pPr lvl="1">
              <a:spcAft>
                <a:spcPts val="200"/>
              </a:spcAft>
              <a:defRPr sz="1000">
                <a:solidFill>
                  <a:srgbClr val="323232"/>
                </a:solidFill>
              </a:defRPr>
            </a:pPr>
            <a:r>
              <a:t>💸 Result: Engineering time wasted on infrastructure, not innovation</a:t>
            </a:r>
          </a:p>
          <a:p>
            <a:pPr>
              <a:spcBef>
                <a:spcPts val="800"/>
              </a:spcBef>
              <a:defRPr sz="1300" b="1">
                <a:solidFill>
                  <a:srgbClr val="0078D4"/>
                </a:solidFill>
              </a:defRPr>
            </a:pPr>
            <a:r>
              <a:t>✅ AI Agent Builder SDK: The Competitive Edge (&lt;2 minutes)</a:t>
            </a:r>
          </a:p>
          <a:p>
            <a:pPr lvl="1">
              <a:spcAft>
                <a:spcPts val="200"/>
              </a:spcAft>
              <a:defRPr sz="1000">
                <a:solidFill>
                  <a:srgbClr val="323232"/>
                </a:solidFill>
              </a:defRPr>
            </a:pPr>
            <a:r>
              <a:t>⚡ One Command: ai-agent-builder new-project my_agent --integrations pgvector,redis,langfuse</a:t>
            </a:r>
          </a:p>
          <a:p>
            <a:pPr lvl="1">
              <a:spcAft>
                <a:spcPts val="200"/>
              </a:spcAft>
              <a:defRPr sz="1000">
                <a:solidFill>
                  <a:srgbClr val="323232"/>
                </a:solidFill>
              </a:defRPr>
            </a:pPr>
            <a:r>
              <a:t>🎯 Instant Value: Production-ready project structure generated automatically</a:t>
            </a:r>
          </a:p>
          <a:p>
            <a:pPr lvl="1">
              <a:spcAft>
                <a:spcPts val="200"/>
              </a:spcAft>
              <a:defRPr sz="1000">
                <a:solidFill>
                  <a:srgbClr val="323232"/>
                </a:solidFill>
              </a:defRPr>
            </a:pPr>
            <a:r>
              <a:t>🔐 Security Built-In: .venv created, Vault integration configured, secrets managed</a:t>
            </a:r>
          </a:p>
          <a:p>
            <a:pPr lvl="1">
              <a:spcAft>
                <a:spcPts val="200"/>
              </a:spcAft>
              <a:defRPr sz="1000">
                <a:solidFill>
                  <a:srgbClr val="323232"/>
                </a:solidFill>
              </a:defRPr>
            </a:pPr>
            <a:r>
              <a:t>🧪 Quality Enforced: 90% test coverage templates with mocked LLMs included</a:t>
            </a:r>
          </a:p>
          <a:p>
            <a:pPr lvl="1">
              <a:spcAft>
                <a:spcPts val="200"/>
              </a:spcAft>
              <a:defRPr sz="1000">
                <a:solidFill>
                  <a:srgbClr val="323232"/>
                </a:solidFill>
              </a:defRPr>
            </a:pPr>
            <a:r>
              <a:t>🔌 Integrations Ready: Vector stores, caching, observability pre-configured</a:t>
            </a:r>
          </a:p>
          <a:p>
            <a:pPr lvl="1">
              <a:spcAft>
                <a:spcPts val="200"/>
              </a:spcAft>
              <a:defRPr sz="1000">
                <a:solidFill>
                  <a:srgbClr val="323232"/>
                </a:solidFill>
              </a:defRPr>
            </a:pPr>
            <a:r>
              <a:t>📊 ROI Impact: 87% time savings = 10x more AI projects delivered per quarter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Core Architecture &amp; Shared Components</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endParaRPr/>
          </a:p>
          <a:p>
            <a:pPr>
              <a:spcBef>
                <a:spcPts val="0"/>
              </a:spcBef>
              <a:defRPr sz="1300" b="1">
                <a:solidFill>
                  <a:srgbClr val="107C10"/>
                </a:solidFill>
              </a:defRPr>
            </a:pPr>
            <a:r>
              <a:t>common/ Package (Always Available)</a:t>
            </a:r>
          </a:p>
          <a:p>
            <a:pPr lvl="1">
              <a:spcAft>
                <a:spcPts val="200"/>
              </a:spcAft>
              <a:defRPr sz="1000">
                <a:solidFill>
                  <a:srgbClr val="323232"/>
                </a:solidFill>
              </a:defRPr>
            </a:pPr>
            <a:r>
              <a:t>llm_factory.py: Centralized LLM builders (get_llm, get_chat_llm, get_embeddings)</a:t>
            </a:r>
          </a:p>
          <a:p>
            <a:pPr lvl="1">
              <a:spcAft>
                <a:spcPts val="200"/>
              </a:spcAft>
              <a:defRPr sz="1000">
                <a:solidFill>
                  <a:srgbClr val="323232"/>
                </a:solidFill>
              </a:defRPr>
            </a:pPr>
            <a:r>
              <a:t>vault.py: HashiCorp Vault integration with .env fallback</a:t>
            </a:r>
          </a:p>
          <a:p>
            <a:pPr lvl="1">
              <a:spcAft>
                <a:spcPts val="200"/>
              </a:spcAft>
              <a:defRPr sz="1000">
                <a:solidFill>
                  <a:srgbClr val="323232"/>
                </a:solidFill>
              </a:defRPr>
            </a:pPr>
            <a:r>
              <a:t>rate_limiter.py: Token bucket algorithm for API rate limiting</a:t>
            </a:r>
          </a:p>
          <a:p>
            <a:pPr lvl="1">
              <a:spcAft>
                <a:spcPts val="200"/>
              </a:spcAft>
              <a:defRPr sz="1000">
                <a:solidFill>
                  <a:srgbClr val="323232"/>
                </a:solidFill>
              </a:defRPr>
            </a:pPr>
            <a:r>
              <a:t>retry.py: Exponential backoff for transient failures</a:t>
            </a:r>
          </a:p>
          <a:p>
            <a:pPr lvl="1">
              <a:spcAft>
                <a:spcPts val="200"/>
              </a:spcAft>
              <a:defRPr sz="1000">
                <a:solidFill>
                  <a:srgbClr val="323232"/>
                </a:solidFill>
              </a:defRPr>
            </a:pPr>
            <a:r>
              <a:t>token_counter.py: Track LLM usage and estimate costs</a:t>
            </a:r>
          </a:p>
          <a:p>
            <a:pPr lvl="1">
              <a:spcAft>
                <a:spcPts val="200"/>
              </a:spcAft>
              <a:defRPr sz="1000">
                <a:solidFill>
                  <a:srgbClr val="323232"/>
                </a:solidFill>
              </a:defRPr>
            </a:pPr>
            <a:r>
              <a:t>cache/: In-memory LRU cache for simple projects</a:t>
            </a:r>
          </a:p>
          <a:p>
            <a:pPr lvl="1">
              <a:spcAft>
                <a:spcPts val="200"/>
              </a:spcAft>
              <a:defRPr sz="1000">
                <a:solidFill>
                  <a:srgbClr val="323232"/>
                </a:solidFill>
              </a:defRPr>
            </a:pPr>
            <a:r>
              <a:t>prompts/: Shared prompt templates (QA, RAG, ReAct)</a:t>
            </a:r>
          </a:p>
          <a:p>
            <a:pPr>
              <a:spcBef>
                <a:spcPts val="800"/>
              </a:spcBef>
              <a:defRPr sz="1300" b="1">
                <a:solidFill>
                  <a:srgbClr val="107C10"/>
                </a:solidFill>
              </a:defRPr>
            </a:pPr>
            <a:r>
              <a:t>Project Structure (Auto-Generated)</a:t>
            </a:r>
          </a:p>
          <a:p>
            <a:pPr lvl="1">
              <a:spcAft>
                <a:spcPts val="200"/>
              </a:spcAft>
              <a:defRPr sz="1000">
                <a:solidFill>
                  <a:srgbClr val="323232"/>
                </a:solidFill>
              </a:defRPr>
            </a:pPr>
            <a:r>
              <a:t>src/main.py: Entry point with common/ imports</a:t>
            </a:r>
          </a:p>
          <a:p>
            <a:pPr lvl="1">
              <a:spcAft>
                <a:spcPts val="200"/>
              </a:spcAft>
              <a:defRPr sz="1000">
                <a:solidFill>
                  <a:srgbClr val="323232"/>
                </a:solidFill>
              </a:defRPr>
            </a:pPr>
            <a:r>
              <a:t>tests/: pytest fixtures with 90% coverage template</a:t>
            </a:r>
          </a:p>
          <a:p>
            <a:pPr lvl="1">
              <a:spcAft>
                <a:spcPts val="200"/>
              </a:spcAft>
              <a:defRPr sz="1000">
                <a:solidFill>
                  <a:srgbClr val="323232"/>
                </a:solidFill>
              </a:defRPr>
            </a:pPr>
            <a:r>
              <a:t>.env.example: Template for environment variables</a:t>
            </a:r>
          </a:p>
          <a:p>
            <a:pPr lvl="1">
              <a:spcAft>
                <a:spcPts val="200"/>
              </a:spcAft>
              <a:defRPr sz="1000">
                <a:solidFill>
                  <a:srgbClr val="323232"/>
                </a:solidFill>
              </a:defRPr>
            </a:pPr>
            <a:r>
              <a:t>requirements.txt: Project-specific dependencies only</a:t>
            </a:r>
          </a:p>
          <a:p>
            <a:pPr lvl="1">
              <a:spcAft>
                <a:spcPts val="200"/>
              </a:spcAft>
              <a:defRPr sz="1000">
                <a:solidFill>
                  <a:srgbClr val="323232"/>
                </a:solidFill>
              </a:defRPr>
            </a:pPr>
            <a:r>
              <a:t>README.md: Setup instructions and sample output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Composable Integration Capabilities</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828800"/>
          <a:ext cx="7680960" cy="38404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640080">
                <a:tc>
                  <a:txBody>
                    <a:bodyPr/>
                    <a:lstStyle/>
                    <a:p>
                      <a:pPr>
                        <a:defRPr sz="1100" b="1">
                          <a:solidFill>
                            <a:srgbClr val="FFFFFF"/>
                          </a:solidFill>
                        </a:defRPr>
                      </a:pPr>
                      <a:r>
                        <a:t>Category</a:t>
                      </a:r>
                    </a:p>
                  </a:txBody>
                  <a:tcPr>
                    <a:solidFill>
                      <a:srgbClr val="0078D4"/>
                    </a:solidFill>
                  </a:tcPr>
                </a:tc>
                <a:tc>
                  <a:txBody>
                    <a:bodyPr/>
                    <a:lstStyle/>
                    <a:p>
                      <a:pPr>
                        <a:defRPr sz="1100" b="1">
                          <a:solidFill>
                            <a:srgbClr val="FFFFFF"/>
                          </a:solidFill>
                        </a:defRPr>
                      </a:pPr>
                      <a:r>
                        <a:t>Integration</a:t>
                      </a:r>
                    </a:p>
                  </a:txBody>
                  <a:tcPr>
                    <a:solidFill>
                      <a:srgbClr val="0078D4"/>
                    </a:solidFill>
                  </a:tcPr>
                </a:tc>
                <a:tc>
                  <a:txBody>
                    <a:bodyPr/>
                    <a:lstStyle/>
                    <a:p>
                      <a:pPr>
                        <a:defRPr sz="1100" b="1">
                          <a:solidFill>
                            <a:srgbClr val="FFFFFF"/>
                          </a:solidFill>
                        </a:defRPr>
                      </a:pPr>
                      <a:r>
                        <a:t>Use Case</a:t>
                      </a:r>
                    </a:p>
                  </a:txBody>
                  <a:tcPr>
                    <a:solidFill>
                      <a:srgbClr val="0078D4"/>
                    </a:solidFill>
                  </a:tcPr>
                </a:tc>
                <a:extLst>
                  <a:ext uri="{0D108BD9-81ED-4DB2-BD59-A6C34878D82A}">
                    <a16:rowId xmlns:a16="http://schemas.microsoft.com/office/drawing/2014/main" val="10000"/>
                  </a:ext>
                </a:extLst>
              </a:tr>
              <a:tr h="640080">
                <a:tc>
                  <a:txBody>
                    <a:bodyPr/>
                    <a:lstStyle/>
                    <a:p>
                      <a:pPr>
                        <a:defRPr sz="1000"/>
                      </a:pPr>
                      <a:r>
                        <a:t>Vector Stores</a:t>
                      </a:r>
                    </a:p>
                  </a:txBody>
                  <a:tcPr/>
                </a:tc>
                <a:tc>
                  <a:txBody>
                    <a:bodyPr/>
                    <a:lstStyle/>
                    <a:p>
                      <a:pPr>
                        <a:defRPr sz="1000"/>
                      </a:pPr>
                      <a:r>
                        <a:t>Chroma</a:t>
                      </a:r>
                    </a:p>
                  </a:txBody>
                  <a:tcPr/>
                </a:tc>
                <a:tc>
                  <a:txBody>
                    <a:bodyPr/>
                    <a:lstStyle/>
                    <a:p>
                      <a:pPr>
                        <a:defRPr sz="1000"/>
                      </a:pPr>
                      <a:r>
                        <a:t>Local development, rapid prototyping</a:t>
                      </a:r>
                    </a:p>
                  </a:txBody>
                  <a:tcPr/>
                </a:tc>
                <a:extLst>
                  <a:ext uri="{0D108BD9-81ED-4DB2-BD59-A6C34878D82A}">
                    <a16:rowId xmlns:a16="http://schemas.microsoft.com/office/drawing/2014/main" val="10001"/>
                  </a:ext>
                </a:extLst>
              </a:tr>
              <a:tr h="640080">
                <a:tc>
                  <a:txBody>
                    <a:bodyPr/>
                    <a:lstStyle/>
                    <a:p>
                      <a:pPr>
                        <a:defRPr sz="1000"/>
                      </a:pPr>
                      <a:endParaRPr/>
                    </a:p>
                  </a:txBody>
                  <a:tcPr>
                    <a:solidFill>
                      <a:srgbClr val="F0F0F0"/>
                    </a:solidFill>
                  </a:tcPr>
                </a:tc>
                <a:tc>
                  <a:txBody>
                    <a:bodyPr/>
                    <a:lstStyle/>
                    <a:p>
                      <a:pPr>
                        <a:defRPr sz="1000"/>
                      </a:pPr>
                      <a:r>
                        <a:t>pgvector</a:t>
                      </a:r>
                    </a:p>
                  </a:txBody>
                  <a:tcPr>
                    <a:solidFill>
                      <a:srgbClr val="F0F0F0"/>
                    </a:solidFill>
                  </a:tcPr>
                </a:tc>
                <a:tc>
                  <a:txBody>
                    <a:bodyPr/>
                    <a:lstStyle/>
                    <a:p>
                      <a:pPr>
                        <a:defRPr sz="1000"/>
                      </a:pPr>
                      <a:r>
                        <a:t>Production PostgreSQL + vector search</a:t>
                      </a:r>
                    </a:p>
                  </a:txBody>
                  <a:tcPr>
                    <a:solidFill>
                      <a:srgbClr val="F0F0F0"/>
                    </a:solidFill>
                  </a:tcPr>
                </a:tc>
                <a:extLst>
                  <a:ext uri="{0D108BD9-81ED-4DB2-BD59-A6C34878D82A}">
                    <a16:rowId xmlns:a16="http://schemas.microsoft.com/office/drawing/2014/main" val="10002"/>
                  </a:ext>
                </a:extLst>
              </a:tr>
              <a:tr h="640080">
                <a:tc>
                  <a:txBody>
                    <a:bodyPr/>
                    <a:lstStyle/>
                    <a:p>
                      <a:pPr>
                        <a:defRPr sz="1000"/>
                      </a:pPr>
                      <a:endParaRPr/>
                    </a:p>
                  </a:txBody>
                  <a:tcPr/>
                </a:tc>
                <a:tc>
                  <a:txBody>
                    <a:bodyPr/>
                    <a:lstStyle/>
                    <a:p>
                      <a:pPr>
                        <a:defRPr sz="1000"/>
                      </a:pPr>
                      <a:r>
                        <a:t>FAISS</a:t>
                      </a:r>
                    </a:p>
                  </a:txBody>
                  <a:tcPr/>
                </a:tc>
                <a:tc>
                  <a:txBody>
                    <a:bodyPr/>
                    <a:lstStyle/>
                    <a:p>
                      <a:pPr>
                        <a:defRPr sz="1000"/>
                      </a:pPr>
                      <a:r>
                        <a:t>High-performance local similarity search</a:t>
                      </a:r>
                    </a:p>
                  </a:txBody>
                  <a:tcPr/>
                </a:tc>
                <a:extLst>
                  <a:ext uri="{0D108BD9-81ED-4DB2-BD59-A6C34878D82A}">
                    <a16:rowId xmlns:a16="http://schemas.microsoft.com/office/drawing/2014/main" val="10003"/>
                  </a:ext>
                </a:extLst>
              </a:tr>
              <a:tr h="640080">
                <a:tc>
                  <a:txBody>
                    <a:bodyPr/>
                    <a:lstStyle/>
                    <a:p>
                      <a:pPr>
                        <a:defRPr sz="1000"/>
                      </a:pPr>
                      <a:r>
                        <a:t>Caching</a:t>
                      </a:r>
                    </a:p>
                  </a:txBody>
                  <a:tcPr>
                    <a:solidFill>
                      <a:srgbClr val="F0F0F0"/>
                    </a:solidFill>
                  </a:tcPr>
                </a:tc>
                <a:tc>
                  <a:txBody>
                    <a:bodyPr/>
                    <a:lstStyle/>
                    <a:p>
                      <a:pPr>
                        <a:defRPr sz="1000"/>
                      </a:pPr>
                      <a:r>
                        <a:t>Redis</a:t>
                      </a:r>
                    </a:p>
                  </a:txBody>
                  <a:tcPr>
                    <a:solidFill>
                      <a:srgbClr val="F0F0F0"/>
                    </a:solidFill>
                  </a:tcPr>
                </a:tc>
                <a:tc>
                  <a:txBody>
                    <a:bodyPr/>
                    <a:lstStyle/>
                    <a:p>
                      <a:pPr>
                        <a:defRPr sz="1000"/>
                      </a:pPr>
                      <a:r>
                        <a:t>In-memory LLM response caching</a:t>
                      </a:r>
                    </a:p>
                  </a:txBody>
                  <a:tcPr>
                    <a:solidFill>
                      <a:srgbClr val="F0F0F0"/>
                    </a:solidFill>
                  </a:tcPr>
                </a:tc>
                <a:extLst>
                  <a:ext uri="{0D108BD9-81ED-4DB2-BD59-A6C34878D82A}">
                    <a16:rowId xmlns:a16="http://schemas.microsoft.com/office/drawing/2014/main" val="10004"/>
                  </a:ext>
                </a:extLst>
              </a:tr>
              <a:tr h="640080">
                <a:tc>
                  <a:txBody>
                    <a:bodyPr/>
                    <a:lstStyle/>
                    <a:p>
                      <a:pPr>
                        <a:defRPr sz="1000"/>
                      </a:pPr>
                      <a:r>
                        <a:t>Observability</a:t>
                      </a:r>
                    </a:p>
                  </a:txBody>
                  <a:tcPr/>
                </a:tc>
                <a:tc>
                  <a:txBody>
                    <a:bodyPr/>
                    <a:lstStyle/>
                    <a:p>
                      <a:pPr>
                        <a:defRPr sz="1000"/>
                      </a:pPr>
                      <a:r>
                        <a:t>Langfuse</a:t>
                      </a:r>
                    </a:p>
                  </a:txBody>
                  <a:tcPr/>
                </a:tc>
                <a:tc>
                  <a:txBody>
                    <a:bodyPr/>
                    <a:lstStyle/>
                    <a:p>
                      <a:pPr>
                        <a:defRPr sz="1000"/>
                      </a:pPr>
                      <a:r>
                        <a:t>Tracing, cost tracking, evaluations</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31520" y="5760720"/>
            <a:ext cx="7680960" cy="457200"/>
          </a:xfrm>
          <a:prstGeom prst="rect">
            <a:avLst/>
          </a:prstGeom>
          <a:noFill/>
        </p:spPr>
        <p:txBody>
          <a:bodyPr wrap="none">
            <a:spAutoFit/>
          </a:bodyPr>
          <a:lstStyle/>
          <a:p>
            <a:pPr>
              <a:defRPr sz="1100" i="1">
                <a:solidFill>
                  <a:srgbClr val="107C10"/>
                </a:solidFill>
              </a:defRPr>
            </a:pPr>
            <a:r>
              <a:t>✓ Mix-and-match integrations with a single CLI command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Environment Awareness &amp; Configuration</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pPr>
              <a:spcAft>
                <a:spcPts val="1200"/>
              </a:spcAft>
              <a:defRPr sz="1600" b="1">
                <a:solidFill>
                  <a:srgbClr val="107C10"/>
                </a:solidFill>
              </a:defRPr>
            </a:pPr>
            <a:r>
              <a:t>Hierarchical Environment Management with Vault Integration</a:t>
            </a:r>
          </a:p>
          <a:p>
            <a:pPr>
              <a:spcBef>
                <a:spcPts val="1000"/>
              </a:spcBef>
              <a:defRPr sz="1300" b="1">
                <a:solidFill>
                  <a:srgbClr val="0078D4"/>
                </a:solidFill>
              </a:defRPr>
            </a:pPr>
            <a:r>
              <a:t>Two-Tier Environment Strategy</a:t>
            </a:r>
          </a:p>
          <a:p>
            <a:pPr lvl="1">
              <a:spcAft>
                <a:spcPts val="200"/>
              </a:spcAft>
              <a:defRPr sz="1000">
                <a:solidFill>
                  <a:srgbClr val="323232"/>
                </a:solidFill>
              </a:defRPr>
            </a:pPr>
            <a:r>
              <a:t>Root .env for common variables (OLLAMA_*, VAULT_*, LOG_LEVEL)</a:t>
            </a:r>
          </a:p>
          <a:p>
            <a:pPr lvl="1">
              <a:spcAft>
                <a:spcPts val="200"/>
              </a:spcAft>
              <a:defRPr sz="1000">
                <a:solidFill>
                  <a:srgbClr val="323232"/>
                </a:solidFill>
              </a:defRPr>
            </a:pPr>
            <a:r>
              <a:t>Project .env for integration-specific variables (GITHUB_*, REDIS_*)</a:t>
            </a:r>
          </a:p>
          <a:p>
            <a:pPr lvl="1">
              <a:spcAft>
                <a:spcPts val="200"/>
              </a:spcAft>
              <a:defRPr sz="1000">
                <a:solidFill>
                  <a:srgbClr val="323232"/>
                </a:solidFill>
              </a:defRPr>
            </a:pPr>
            <a:r>
              <a:t>Automatic hierarchical loading via load_project_env()</a:t>
            </a:r>
          </a:p>
          <a:p>
            <a:pPr>
              <a:spcBef>
                <a:spcPts val="1000"/>
              </a:spcBef>
              <a:defRPr sz="1300" b="1">
                <a:solidFill>
                  <a:srgbClr val="0078D4"/>
                </a:solidFill>
              </a:defRPr>
            </a:pPr>
            <a:r>
              <a:t>HashiCorp Vault Integration</a:t>
            </a:r>
          </a:p>
          <a:p>
            <a:pPr lvl="1">
              <a:spcAft>
                <a:spcPts val="200"/>
              </a:spcAft>
              <a:defRPr sz="1000">
                <a:solidFill>
                  <a:srgbClr val="323232"/>
                </a:solidFill>
              </a:defRPr>
            </a:pPr>
            <a:r>
              <a:t>Centralized secret management for team collaboration</a:t>
            </a:r>
          </a:p>
          <a:p>
            <a:pPr lvl="1">
              <a:spcAft>
                <a:spcPts val="200"/>
              </a:spcAft>
              <a:defRPr sz="1000">
                <a:solidFill>
                  <a:srgbClr val="323232"/>
                </a:solidFill>
              </a:defRPr>
            </a:pPr>
            <a:r>
              <a:t>Automatic fallback to .env if Vault unreachable</a:t>
            </a:r>
          </a:p>
          <a:p>
            <a:pPr lvl="1">
              <a:spcAft>
                <a:spcPts val="200"/>
              </a:spcAft>
              <a:defRPr sz="1000">
                <a:solidFill>
                  <a:srgbClr val="323232"/>
                </a:solidFill>
              </a:defRPr>
            </a:pPr>
            <a:r>
              <a:t>Zero code changes - credential source is transparent</a:t>
            </a:r>
          </a:p>
          <a:p>
            <a:pPr lvl="1">
              <a:spcAft>
                <a:spcPts val="200"/>
              </a:spcAft>
              <a:defRPr sz="1000">
                <a:solidFill>
                  <a:srgbClr val="323232"/>
                </a:solidFill>
              </a:defRPr>
            </a:pPr>
            <a:r>
              <a:t>Backward compatible - Vault disabled by default</a:t>
            </a:r>
          </a:p>
          <a:p>
            <a:pPr>
              <a:spcBef>
                <a:spcPts val="1000"/>
              </a:spcBef>
              <a:defRPr sz="1300" b="1">
                <a:solidFill>
                  <a:srgbClr val="0078D4"/>
                </a:solidFill>
              </a:defRPr>
            </a:pPr>
            <a:r>
              <a:t>Configuration Validation</a:t>
            </a:r>
          </a:p>
          <a:p>
            <a:pPr lvl="1">
              <a:spcAft>
                <a:spcPts val="200"/>
              </a:spcAft>
              <a:defRPr sz="1000">
                <a:solidFill>
                  <a:srgbClr val="323232"/>
                </a:solidFill>
              </a:defRPr>
            </a:pPr>
            <a:r>
              <a:t>require_env() raises clear errors for missing variables</a:t>
            </a:r>
          </a:p>
          <a:p>
            <a:pPr lvl="1">
              <a:spcAft>
                <a:spcPts val="200"/>
              </a:spcAft>
              <a:defRPr sz="1000">
                <a:solidFill>
                  <a:srgbClr val="323232"/>
                </a:solidFill>
              </a:defRPr>
            </a:pPr>
            <a:r>
              <a:t>.env.example templates for every project</a:t>
            </a:r>
          </a:p>
          <a:p>
            <a:pPr lvl="1">
              <a:spcAft>
                <a:spcPts val="200"/>
              </a:spcAft>
              <a:defRPr sz="1000">
                <a:solidFill>
                  <a:srgbClr val="323232"/>
                </a:solidFill>
              </a:defRPr>
            </a:pPr>
            <a:r>
              <a:t>SDK validates configuration during scaffolding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107C10"/>
                </a:solidFill>
              </a:defRPr>
            </a:pPr>
            <a:r>
              <a:t>Production-Ready Infrastructure</a:t>
            </a:r>
          </a:p>
        </p:txBody>
      </p:sp>
      <p:sp>
        <p:nvSpPr>
          <p:cNvPr id="3" name="Rectangle 2"/>
          <p:cNvSpPr/>
          <p:nvPr/>
        </p:nvSpPr>
        <p:spPr>
          <a:xfrm>
            <a:off x="457200" y="1188720"/>
            <a:ext cx="8229600" cy="18288"/>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2011680"/>
            <a:ext cx="3474720" cy="1234440"/>
          </a:xfrm>
          <a:prstGeom prst="rect">
            <a:avLst/>
          </a:prstGeom>
          <a:solidFill>
            <a:srgbClr val="F0F0F0"/>
          </a:solidFill>
          <a:ln w="25400">
            <a:solidFill>
              <a:srgbClr val="107C10"/>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07C10"/>
                </a:solidFill>
              </a:defRPr>
            </a:pPr>
            <a:r>
              <a:t>🔒 Security</a:t>
            </a:r>
          </a:p>
          <a:p>
            <a:pPr>
              <a:spcBef>
                <a:spcPts val="400"/>
              </a:spcBef>
              <a:defRPr sz="900">
                <a:solidFill>
                  <a:srgbClr val="323232"/>
                </a:solidFill>
              </a:defRPr>
            </a:pPr>
            <a:r>
              <a:t>• HashiCorp Vault integration</a:t>
            </a:r>
            <a:br/>
            <a:r>
              <a:t>• API key rotation support</a:t>
            </a:r>
            <a:br/>
            <a:r>
              <a:t>• Secure .env file handling</a:t>
            </a:r>
          </a:p>
        </p:txBody>
      </p:sp>
      <p:sp>
        <p:nvSpPr>
          <p:cNvPr id="5" name="Rectangle 4"/>
          <p:cNvSpPr/>
          <p:nvPr/>
        </p:nvSpPr>
        <p:spPr>
          <a:xfrm>
            <a:off x="4389120" y="2011680"/>
            <a:ext cx="3474720" cy="1234440"/>
          </a:xfrm>
          <a:prstGeom prst="rect">
            <a:avLst/>
          </a:prstGeom>
          <a:solidFill>
            <a:srgbClr val="F0F0F0"/>
          </a:solidFill>
          <a:ln w="25400">
            <a:solidFill>
              <a:srgbClr val="107C10"/>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07C10"/>
                </a:solidFill>
              </a:defRPr>
            </a:pPr>
            <a:r>
              <a:t>⚡ Performance</a:t>
            </a:r>
          </a:p>
          <a:p>
            <a:pPr>
              <a:spcBef>
                <a:spcPts val="400"/>
              </a:spcBef>
              <a:defRPr sz="900">
                <a:solidFill>
                  <a:srgbClr val="323232"/>
                </a:solidFill>
              </a:defRPr>
            </a:pPr>
            <a:r>
              <a:t>• Rate limiting (token bucket)</a:t>
            </a:r>
            <a:br/>
            <a:r>
              <a:t>• LRU in-memory cache</a:t>
            </a:r>
            <a:br/>
            <a:r>
              <a:t>• Redis caching support</a:t>
            </a:r>
          </a:p>
        </p:txBody>
      </p:sp>
      <p:sp>
        <p:nvSpPr>
          <p:cNvPr id="6" name="Rectangle 5"/>
          <p:cNvSpPr/>
          <p:nvPr/>
        </p:nvSpPr>
        <p:spPr>
          <a:xfrm>
            <a:off x="548640" y="3383280"/>
            <a:ext cx="3474720" cy="1234440"/>
          </a:xfrm>
          <a:prstGeom prst="rect">
            <a:avLst/>
          </a:prstGeom>
          <a:solidFill>
            <a:srgbClr val="F0F0F0"/>
          </a:solidFill>
          <a:ln w="25400">
            <a:solidFill>
              <a:srgbClr val="107C10"/>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07C10"/>
                </a:solidFill>
              </a:defRPr>
            </a:pPr>
            <a:r>
              <a:t>🛡️ Reliability</a:t>
            </a:r>
          </a:p>
          <a:p>
            <a:pPr>
              <a:spcBef>
                <a:spcPts val="400"/>
              </a:spcBef>
              <a:defRPr sz="900">
                <a:solidFill>
                  <a:srgbClr val="323232"/>
                </a:solidFill>
              </a:defRPr>
            </a:pPr>
            <a:r>
              <a:t>• Exponential backoff retry logic</a:t>
            </a:r>
            <a:br/>
            <a:r>
              <a:t>• Circuit breaker pattern</a:t>
            </a:r>
            <a:br/>
            <a:r>
              <a:t>• Graceful degradation</a:t>
            </a:r>
          </a:p>
        </p:txBody>
      </p:sp>
      <p:sp>
        <p:nvSpPr>
          <p:cNvPr id="7" name="Rectangle 6"/>
          <p:cNvSpPr/>
          <p:nvPr/>
        </p:nvSpPr>
        <p:spPr>
          <a:xfrm>
            <a:off x="4389120" y="3383280"/>
            <a:ext cx="3474720" cy="1234440"/>
          </a:xfrm>
          <a:prstGeom prst="rect">
            <a:avLst/>
          </a:prstGeom>
          <a:solidFill>
            <a:srgbClr val="F0F0F0"/>
          </a:solidFill>
          <a:ln w="25400">
            <a:solidFill>
              <a:srgbClr val="107C10"/>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07C10"/>
                </a:solidFill>
              </a:defRPr>
            </a:pPr>
            <a:r>
              <a:t>📊 Observability</a:t>
            </a:r>
          </a:p>
          <a:p>
            <a:pPr>
              <a:spcBef>
                <a:spcPts val="400"/>
              </a:spcBef>
              <a:defRPr sz="900">
                <a:solidFill>
                  <a:srgbClr val="323232"/>
                </a:solidFill>
              </a:defRPr>
            </a:pPr>
            <a:r>
              <a:t>• Token counting &amp; cost estimation</a:t>
            </a:r>
            <a:br/>
            <a:r>
              <a:t>• Langfuse tracing integration</a:t>
            </a:r>
            <a:br/>
            <a:r>
              <a:t>• Structured logging (LOG_LEVEL)</a:t>
            </a:r>
          </a:p>
        </p:txBody>
      </p:sp>
      <p:sp>
        <p:nvSpPr>
          <p:cNvPr id="8" name="Rectangle 7"/>
          <p:cNvSpPr/>
          <p:nvPr/>
        </p:nvSpPr>
        <p:spPr>
          <a:xfrm>
            <a:off x="548640" y="4754880"/>
            <a:ext cx="3474720" cy="1234440"/>
          </a:xfrm>
          <a:prstGeom prst="rect">
            <a:avLst/>
          </a:prstGeom>
          <a:solidFill>
            <a:srgbClr val="F0F0F0"/>
          </a:solidFill>
          <a:ln w="25400">
            <a:solidFill>
              <a:srgbClr val="107C10"/>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07C10"/>
                </a:solidFill>
              </a:defRPr>
            </a:pPr>
            <a:r>
              <a:t>🧪 Quality</a:t>
            </a:r>
          </a:p>
          <a:p>
            <a:pPr>
              <a:spcBef>
                <a:spcPts val="400"/>
              </a:spcBef>
              <a:defRPr sz="900">
                <a:solidFill>
                  <a:srgbClr val="323232"/>
                </a:solidFill>
              </a:defRPr>
            </a:pPr>
            <a:r>
              <a:t>• 90% test coverage enforcement</a:t>
            </a:r>
            <a:br/>
            <a:r>
              <a:t>• Mocked LLMs in tests</a:t>
            </a:r>
            <a:br/>
            <a:r>
              <a:t>• Automated test generation</a:t>
            </a:r>
          </a:p>
        </p:txBody>
      </p:sp>
      <p:sp>
        <p:nvSpPr>
          <p:cNvPr id="9" name="Rectangle 8"/>
          <p:cNvSpPr/>
          <p:nvPr/>
        </p:nvSpPr>
        <p:spPr>
          <a:xfrm>
            <a:off x="4389120" y="4754880"/>
            <a:ext cx="3474720" cy="1234440"/>
          </a:xfrm>
          <a:prstGeom prst="rect">
            <a:avLst/>
          </a:prstGeom>
          <a:solidFill>
            <a:srgbClr val="F0F0F0"/>
          </a:solidFill>
          <a:ln w="25400">
            <a:solidFill>
              <a:srgbClr val="107C10"/>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07C10"/>
                </a:solidFill>
              </a:defRPr>
            </a:pPr>
            <a:r>
              <a:t>📦 DevEx</a:t>
            </a:r>
          </a:p>
          <a:p>
            <a:pPr>
              <a:spcBef>
                <a:spcPts val="400"/>
              </a:spcBef>
              <a:defRPr sz="900">
                <a:solidFill>
                  <a:srgbClr val="323232"/>
                </a:solidFill>
              </a:defRPr>
            </a:pPr>
            <a:r>
              <a:t>• uv package manager (10x faster)</a:t>
            </a:r>
            <a:br/>
            <a:r>
              <a:t>• Isolated .venv per project</a:t>
            </a:r>
            <a:br/>
            <a:r>
              <a:t>• One-command scaffolding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E2E Automation Maturity Model</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457200" y="1828800"/>
          <a:ext cx="8229600" cy="4114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85800">
                <a:tc>
                  <a:txBody>
                    <a:bodyPr/>
                    <a:lstStyle/>
                    <a:p>
                      <a:pPr>
                        <a:defRPr sz="1100" b="1">
                          <a:solidFill>
                            <a:srgbClr val="FFFFFF"/>
                          </a:solidFill>
                        </a:defRPr>
                      </a:pPr>
                      <a:r>
                        <a:t>Level</a:t>
                      </a:r>
                    </a:p>
                  </a:txBody>
                  <a:tcPr>
                    <a:solidFill>
                      <a:srgbClr val="0078D4"/>
                    </a:solidFill>
                  </a:tcPr>
                </a:tc>
                <a:tc>
                  <a:txBody>
                    <a:bodyPr/>
                    <a:lstStyle/>
                    <a:p>
                      <a:pPr>
                        <a:defRPr sz="1100" b="1">
                          <a:solidFill>
                            <a:srgbClr val="FFFFFF"/>
                          </a:solidFill>
                        </a:defRPr>
                      </a:pPr>
                      <a:r>
                        <a:t>Name</a:t>
                      </a:r>
                    </a:p>
                  </a:txBody>
                  <a:tcPr>
                    <a:solidFill>
                      <a:srgbClr val="0078D4"/>
                    </a:solidFill>
                  </a:tcPr>
                </a:tc>
                <a:tc>
                  <a:txBody>
                    <a:bodyPr/>
                    <a:lstStyle/>
                    <a:p>
                      <a:pPr>
                        <a:defRPr sz="1100" b="1">
                          <a:solidFill>
                            <a:srgbClr val="FFFFFF"/>
                          </a:solidFill>
                        </a:defRPr>
                      </a:pPr>
                      <a:r>
                        <a:t>Key Tools</a:t>
                      </a:r>
                    </a:p>
                  </a:txBody>
                  <a:tcPr>
                    <a:solidFill>
                      <a:srgbClr val="0078D4"/>
                    </a:solidFill>
                  </a:tcPr>
                </a:tc>
                <a:tc>
                  <a:txBody>
                    <a:bodyPr/>
                    <a:lstStyle/>
                    <a:p>
                      <a:pPr>
                        <a:defRPr sz="1100" b="1">
                          <a:solidFill>
                            <a:srgbClr val="FFFFFF"/>
                          </a:solidFill>
                        </a:defRPr>
                      </a:pPr>
                      <a:r>
                        <a:t>Characteristics</a:t>
                      </a:r>
                    </a:p>
                  </a:txBody>
                  <a:tcPr>
                    <a:solidFill>
                      <a:srgbClr val="0078D4"/>
                    </a:solidFill>
                  </a:tcPr>
                </a:tc>
                <a:extLst>
                  <a:ext uri="{0D108BD9-81ED-4DB2-BD59-A6C34878D82A}">
                    <a16:rowId xmlns:a16="http://schemas.microsoft.com/office/drawing/2014/main" val="10000"/>
                  </a:ext>
                </a:extLst>
              </a:tr>
              <a:tr h="685800">
                <a:tc>
                  <a:txBody>
                    <a:bodyPr/>
                    <a:lstStyle/>
                    <a:p>
                      <a:pPr>
                        <a:defRPr sz="900"/>
                      </a:pPr>
                      <a:r>
                        <a:t>1 🔴</a:t>
                      </a:r>
                    </a:p>
                  </a:txBody>
                  <a:tcPr>
                    <a:solidFill>
                      <a:srgbClr val="FFC8C8"/>
                    </a:solidFill>
                  </a:tcPr>
                </a:tc>
                <a:tc>
                  <a:txBody>
                    <a:bodyPr/>
                    <a:lstStyle/>
                    <a:p>
                      <a:pPr>
                        <a:defRPr sz="900"/>
                      </a:pPr>
                      <a:r>
                        <a:t>Manual Operations</a:t>
                      </a:r>
                    </a:p>
                  </a:txBody>
                  <a:tcPr>
                    <a:solidFill>
                      <a:srgbClr val="FFC8C8"/>
                    </a:solidFill>
                  </a:tcPr>
                </a:tc>
                <a:tc>
                  <a:txBody>
                    <a:bodyPr/>
                    <a:lstStyle/>
                    <a:p>
                      <a:pPr>
                        <a:defRPr sz="900"/>
                      </a:pPr>
                      <a:r>
                        <a:t>SSH, CLI, Runbooks</a:t>
                      </a:r>
                    </a:p>
                  </a:txBody>
                  <a:tcPr>
                    <a:solidFill>
                      <a:srgbClr val="FFC8C8"/>
                    </a:solidFill>
                  </a:tcPr>
                </a:tc>
                <a:tc>
                  <a:txBody>
                    <a:bodyPr/>
                    <a:lstStyle/>
                    <a:p>
                      <a:pPr>
                        <a:defRPr sz="900"/>
                      </a:pPr>
                      <a:r>
                        <a:t>Ad-hoc, error-prone, no audit trail</a:t>
                      </a:r>
                    </a:p>
                  </a:txBody>
                  <a:tcPr>
                    <a:solidFill>
                      <a:srgbClr val="FFC8C8"/>
                    </a:solidFill>
                  </a:tcPr>
                </a:tc>
                <a:extLst>
                  <a:ext uri="{0D108BD9-81ED-4DB2-BD59-A6C34878D82A}">
                    <a16:rowId xmlns:a16="http://schemas.microsoft.com/office/drawing/2014/main" val="10001"/>
                  </a:ext>
                </a:extLst>
              </a:tr>
              <a:tr h="685800">
                <a:tc>
                  <a:txBody>
                    <a:bodyPr/>
                    <a:lstStyle/>
                    <a:p>
                      <a:pPr>
                        <a:defRPr sz="900"/>
                      </a:pPr>
                      <a:r>
                        <a:t>2 🟠</a:t>
                      </a:r>
                    </a:p>
                  </a:txBody>
                  <a:tcPr>
                    <a:solidFill>
                      <a:srgbClr val="FFE6C8"/>
                    </a:solidFill>
                  </a:tcPr>
                </a:tc>
                <a:tc>
                  <a:txBody>
                    <a:bodyPr/>
                    <a:lstStyle/>
                    <a:p>
                      <a:pPr>
                        <a:defRPr sz="900"/>
                      </a:pPr>
                      <a:r>
                        <a:t>Scripted Automation</a:t>
                      </a:r>
                    </a:p>
                  </a:txBody>
                  <a:tcPr>
                    <a:solidFill>
                      <a:srgbClr val="FFE6C8"/>
                    </a:solidFill>
                  </a:tcPr>
                </a:tc>
                <a:tc>
                  <a:txBody>
                    <a:bodyPr/>
                    <a:lstStyle/>
                    <a:p>
                      <a:pPr>
                        <a:defRPr sz="900"/>
                      </a:pPr>
                      <a:r>
                        <a:t>Bash, Python, CI/CD</a:t>
                      </a:r>
                    </a:p>
                  </a:txBody>
                  <a:tcPr>
                    <a:solidFill>
                      <a:srgbClr val="FFE6C8"/>
                    </a:solidFill>
                  </a:tcPr>
                </a:tc>
                <a:tc>
                  <a:txBody>
                    <a:bodyPr/>
                    <a:lstStyle/>
                    <a:p>
                      <a:pPr>
                        <a:defRPr sz="900"/>
                      </a:pPr>
                      <a:r>
                        <a:t>Repeatable but brittle, human oversight</a:t>
                      </a:r>
                    </a:p>
                  </a:txBody>
                  <a:tcPr>
                    <a:solidFill>
                      <a:srgbClr val="FFE6C8"/>
                    </a:solidFill>
                  </a:tcPr>
                </a:tc>
                <a:extLst>
                  <a:ext uri="{0D108BD9-81ED-4DB2-BD59-A6C34878D82A}">
                    <a16:rowId xmlns:a16="http://schemas.microsoft.com/office/drawing/2014/main" val="10002"/>
                  </a:ext>
                </a:extLst>
              </a:tr>
              <a:tr h="685800">
                <a:tc>
                  <a:txBody>
                    <a:bodyPr/>
                    <a:lstStyle/>
                    <a:p>
                      <a:pPr>
                        <a:defRPr sz="900"/>
                      </a:pPr>
                      <a:r>
                        <a:t>3 🟡</a:t>
                      </a:r>
                    </a:p>
                  </a:txBody>
                  <a:tcPr>
                    <a:solidFill>
                      <a:srgbClr val="FFFFC8"/>
                    </a:solidFill>
                  </a:tcPr>
                </a:tc>
                <a:tc>
                  <a:txBody>
                    <a:bodyPr/>
                    <a:lstStyle/>
                    <a:p>
                      <a:pPr>
                        <a:defRPr sz="900"/>
                      </a:pPr>
                      <a:r>
                        <a:t>Orchestrated</a:t>
                      </a:r>
                    </a:p>
                  </a:txBody>
                  <a:tcPr>
                    <a:solidFill>
                      <a:srgbClr val="FFFFC8"/>
                    </a:solidFill>
                  </a:tcPr>
                </a:tc>
                <a:tc>
                  <a:txBody>
                    <a:bodyPr/>
                    <a:lstStyle/>
                    <a:p>
                      <a:pPr>
                        <a:defRPr sz="900"/>
                      </a:pPr>
                      <a:r>
                        <a:t>Ansible, Terraform, Vault</a:t>
                      </a:r>
                    </a:p>
                  </a:txBody>
                  <a:tcPr>
                    <a:solidFill>
                      <a:srgbClr val="FFFFC8"/>
                    </a:solidFill>
                  </a:tcPr>
                </a:tc>
                <a:tc>
                  <a:txBody>
                    <a:bodyPr/>
                    <a:lstStyle/>
                    <a:p>
                      <a:pPr>
                        <a:defRPr sz="900"/>
                      </a:pPr>
                      <a:r>
                        <a:t>IaC, idempotent, RBAC, centralized</a:t>
                      </a:r>
                    </a:p>
                  </a:txBody>
                  <a:tcPr>
                    <a:solidFill>
                      <a:srgbClr val="FFFFC8"/>
                    </a:solidFill>
                  </a:tcPr>
                </a:tc>
                <a:extLst>
                  <a:ext uri="{0D108BD9-81ED-4DB2-BD59-A6C34878D82A}">
                    <a16:rowId xmlns:a16="http://schemas.microsoft.com/office/drawing/2014/main" val="10003"/>
                  </a:ext>
                </a:extLst>
              </a:tr>
              <a:tr h="685800">
                <a:tc>
                  <a:txBody>
                    <a:bodyPr/>
                    <a:lstStyle/>
                    <a:p>
                      <a:pPr>
                        <a:defRPr sz="900"/>
                      </a:pPr>
                      <a:r>
                        <a:t>4 🟢</a:t>
                      </a:r>
                    </a:p>
                  </a:txBody>
                  <a:tcPr>
                    <a:solidFill>
                      <a:srgbClr val="C8FFC8"/>
                    </a:solidFill>
                  </a:tcPr>
                </a:tc>
                <a:tc>
                  <a:txBody>
                    <a:bodyPr/>
                    <a:lstStyle/>
                    <a:p>
                      <a:pPr>
                        <a:defRPr sz="900"/>
                      </a:pPr>
                      <a:r>
                        <a:t>Intelligent</a:t>
                      </a:r>
                    </a:p>
                  </a:txBody>
                  <a:tcPr>
                    <a:solidFill>
                      <a:srgbClr val="C8FFC8"/>
                    </a:solidFill>
                  </a:tcPr>
                </a:tc>
                <a:tc>
                  <a:txBody>
                    <a:bodyPr/>
                    <a:lstStyle/>
                    <a:p>
                      <a:pPr>
                        <a:defRPr sz="900"/>
                      </a:pPr>
                      <a:r>
                        <a:t>LangChain, Ollama, RAG</a:t>
                      </a:r>
                    </a:p>
                  </a:txBody>
                  <a:tcPr>
                    <a:solidFill>
                      <a:srgbClr val="C8FFC8"/>
                    </a:solidFill>
                  </a:tcPr>
                </a:tc>
                <a:tc>
                  <a:txBody>
                    <a:bodyPr/>
                    <a:lstStyle/>
                    <a:p>
                      <a:pPr>
                        <a:defRPr sz="900"/>
                      </a:pPr>
                      <a:r>
                        <a:t>Context-aware, AI-assisted, predictive</a:t>
                      </a:r>
                    </a:p>
                  </a:txBody>
                  <a:tcPr>
                    <a:solidFill>
                      <a:srgbClr val="C8FFC8"/>
                    </a:solidFill>
                  </a:tcPr>
                </a:tc>
                <a:extLst>
                  <a:ext uri="{0D108BD9-81ED-4DB2-BD59-A6C34878D82A}">
                    <a16:rowId xmlns:a16="http://schemas.microsoft.com/office/drawing/2014/main" val="10004"/>
                  </a:ext>
                </a:extLst>
              </a:tr>
              <a:tr h="685800">
                <a:tc>
                  <a:txBody>
                    <a:bodyPr/>
                    <a:lstStyle/>
                    <a:p>
                      <a:pPr>
                        <a:defRPr sz="900"/>
                      </a:pPr>
                      <a:r>
                        <a:t>5 🟣</a:t>
                      </a:r>
                    </a:p>
                  </a:txBody>
                  <a:tcPr>
                    <a:solidFill>
                      <a:srgbClr val="E6C8FF"/>
                    </a:solidFill>
                  </a:tcPr>
                </a:tc>
                <a:tc>
                  <a:txBody>
                    <a:bodyPr/>
                    <a:lstStyle/>
                    <a:p>
                      <a:pPr>
                        <a:defRPr sz="900"/>
                      </a:pPr>
                      <a:r>
                        <a:t>Agentic AI</a:t>
                      </a:r>
                    </a:p>
                  </a:txBody>
                  <a:tcPr>
                    <a:solidFill>
                      <a:srgbClr val="E6C8FF"/>
                    </a:solidFill>
                  </a:tcPr>
                </a:tc>
                <a:tc>
                  <a:txBody>
                    <a:bodyPr/>
                    <a:lstStyle/>
                    <a:p>
                      <a:pPr>
                        <a:defRPr sz="900"/>
                      </a:pPr>
                      <a:r>
                        <a:t>LangGraph, Multi-Agent</a:t>
                      </a:r>
                    </a:p>
                  </a:txBody>
                  <a:tcPr>
                    <a:solidFill>
                      <a:srgbClr val="E6C8FF"/>
                    </a:solidFill>
                  </a:tcPr>
                </a:tc>
                <a:tc>
                  <a:txBody>
                    <a:bodyPr/>
                    <a:lstStyle/>
                    <a:p>
                      <a:pPr>
                        <a:defRPr sz="900"/>
                      </a:pPr>
                      <a:r>
                        <a:t>Fully autonomous, self-healing, zero-touch</a:t>
                      </a:r>
                    </a:p>
                  </a:txBody>
                  <a:tcPr>
                    <a:solidFill>
                      <a:srgbClr val="E6C8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Current Projects &amp; Use Cases</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pPr>
              <a:spcAft>
                <a:spcPts val="1200"/>
              </a:spcAft>
              <a:defRPr sz="1600" b="1">
                <a:solidFill>
                  <a:srgbClr val="107C10"/>
                </a:solidFill>
              </a:defRPr>
            </a:pPr>
            <a:r>
              <a:t>Live Projects Demonstrating Framework Capabilities</a:t>
            </a:r>
          </a:p>
          <a:p>
            <a:pPr>
              <a:spcBef>
                <a:spcPts val="0"/>
              </a:spcBef>
              <a:defRPr sz="1200" b="1">
                <a:solidFill>
                  <a:srgbClr val="0078D4"/>
                </a:solidFill>
              </a:defRPr>
            </a:pPr>
            <a:r>
              <a:t>01 - Hello LangChain</a:t>
            </a:r>
          </a:p>
          <a:p>
            <a:pPr>
              <a:spcAft>
                <a:spcPts val="200"/>
              </a:spcAft>
              <a:defRPr sz="1000" i="1">
                <a:solidFill>
                  <a:srgbClr val="107C10"/>
                </a:solidFill>
              </a:defRPr>
            </a:pPr>
            <a:r>
              <a:t>[LCEL Chain]</a:t>
            </a:r>
          </a:p>
          <a:p>
            <a:pPr lvl="1">
              <a:spcAft>
                <a:spcPts val="400"/>
              </a:spcAft>
              <a:defRPr sz="1000">
                <a:solidFill>
                  <a:srgbClr val="323232"/>
                </a:solidFill>
              </a:defRPr>
            </a:pPr>
            <a:r>
              <a:t>Minimal working example demonstrating chain setup, LLM invocation, and prompt templating</a:t>
            </a:r>
          </a:p>
          <a:p>
            <a:pPr>
              <a:spcBef>
                <a:spcPts val="1000"/>
              </a:spcBef>
              <a:defRPr sz="1200" b="1">
                <a:solidFill>
                  <a:srgbClr val="0078D4"/>
                </a:solidFill>
              </a:defRPr>
            </a:pPr>
            <a:r>
              <a:t>02 - Automation Maturity Model</a:t>
            </a:r>
          </a:p>
          <a:p>
            <a:pPr>
              <a:spcAft>
                <a:spcPts val="200"/>
              </a:spcAft>
              <a:defRPr sz="1000" i="1">
                <a:solidFill>
                  <a:srgbClr val="107C10"/>
                </a:solidFill>
              </a:defRPr>
            </a:pPr>
            <a:r>
              <a:t>[Visualization]</a:t>
            </a:r>
          </a:p>
          <a:p>
            <a:pPr lvl="1">
              <a:spcAft>
                <a:spcPts val="400"/>
              </a:spcAft>
              <a:defRPr sz="1000">
                <a:solidFill>
                  <a:srgbClr val="323232"/>
                </a:solidFill>
              </a:defRPr>
            </a:pPr>
            <a:r>
              <a:t>Interactive HTML animation of 5-level maturity model (Manual → Agentic AI)</a:t>
            </a:r>
          </a:p>
          <a:p>
            <a:pPr>
              <a:spcBef>
                <a:spcPts val="1000"/>
              </a:spcBef>
              <a:defRPr sz="1200" b="1">
                <a:solidFill>
                  <a:srgbClr val="0078D4"/>
                </a:solidFill>
              </a:defRPr>
            </a:pPr>
            <a:r>
              <a:t>03 - Weather Reporting Agent</a:t>
            </a:r>
          </a:p>
          <a:p>
            <a:pPr>
              <a:spcAft>
                <a:spcPts val="200"/>
              </a:spcAft>
              <a:defRPr sz="1000" i="1">
                <a:solidFill>
                  <a:srgbClr val="107C10"/>
                </a:solidFill>
              </a:defRPr>
            </a:pPr>
            <a:r>
              <a:t>[LangGraph Agent]</a:t>
            </a:r>
          </a:p>
          <a:p>
            <a:pPr lvl="1">
              <a:spcAft>
                <a:spcPts val="400"/>
              </a:spcAft>
              <a:defRPr sz="1000">
                <a:solidFill>
                  <a:srgbClr val="323232"/>
                </a:solidFill>
              </a:defRPr>
            </a:pPr>
            <a:r>
              <a:t>ReAct pattern agent with tool calling for weather data retrieval</a:t>
            </a:r>
          </a:p>
          <a:p>
            <a:pPr>
              <a:spcBef>
                <a:spcPts val="1000"/>
              </a:spcBef>
              <a:defRPr sz="1200" b="1">
                <a:solidFill>
                  <a:srgbClr val="0078D4"/>
                </a:solidFill>
              </a:defRPr>
            </a:pPr>
            <a:r>
              <a:t>04 - GitHub Issue Reporter</a:t>
            </a:r>
          </a:p>
          <a:p>
            <a:pPr>
              <a:spcAft>
                <a:spcPts val="200"/>
              </a:spcAft>
              <a:defRPr sz="1000" i="1">
                <a:solidFill>
                  <a:srgbClr val="107C10"/>
                </a:solidFill>
              </a:defRPr>
            </a:pPr>
            <a:r>
              <a:t>[Integration]</a:t>
            </a:r>
          </a:p>
          <a:p>
            <a:pPr lvl="1">
              <a:spcAft>
                <a:spcPts val="400"/>
              </a:spcAft>
              <a:defRPr sz="1000">
                <a:solidFill>
                  <a:srgbClr val="323232"/>
                </a:solidFill>
              </a:defRPr>
            </a:pPr>
            <a:r>
              <a:t>Multi-tool agent demonstrating GitHub API integration with issue creation/search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107C10"/>
                </a:solidFill>
              </a:defRPr>
            </a:pPr>
            <a:r>
              <a:t>Future Roadmap &amp; Planned Enhancements</a:t>
            </a:r>
          </a:p>
        </p:txBody>
      </p:sp>
      <p:sp>
        <p:nvSpPr>
          <p:cNvPr id="3" name="Rectangle 2"/>
          <p:cNvSpPr/>
          <p:nvPr/>
        </p:nvSpPr>
        <p:spPr>
          <a:xfrm>
            <a:off x="457200" y="1188720"/>
            <a:ext cx="8229600" cy="18288"/>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645920"/>
            <a:ext cx="7680960" cy="4572000"/>
          </a:xfrm>
          <a:prstGeom prst="rect">
            <a:avLst/>
          </a:prstGeom>
          <a:noFill/>
        </p:spPr>
        <p:txBody>
          <a:bodyPr wrap="square">
            <a:spAutoFit/>
          </a:bodyPr>
          <a:lstStyle/>
          <a:p>
            <a:endParaRPr/>
          </a:p>
          <a:p>
            <a:pPr>
              <a:spcBef>
                <a:spcPts val="0"/>
              </a:spcBef>
              <a:defRPr sz="1200" b="1">
                <a:solidFill>
                  <a:srgbClr val="107C10"/>
                </a:solidFill>
              </a:defRPr>
            </a:pPr>
            <a:r>
              <a:t>Q2 2026 - Enhanced Integration Ecosystem</a:t>
            </a:r>
          </a:p>
          <a:p>
            <a:pPr lvl="1">
              <a:spcAft>
                <a:spcPts val="200"/>
              </a:spcAft>
              <a:defRPr sz="1000">
                <a:solidFill>
                  <a:srgbClr val="323232"/>
                </a:solidFill>
              </a:defRPr>
            </a:pPr>
            <a:r>
              <a:t>Document loaders (PDF, Web scraping, Office documents)</a:t>
            </a:r>
          </a:p>
          <a:p>
            <a:pPr lvl="1">
              <a:spcAft>
                <a:spcPts val="200"/>
              </a:spcAft>
              <a:defRPr sz="1000">
                <a:solidFill>
                  <a:srgbClr val="323232"/>
                </a:solidFill>
              </a:defRPr>
            </a:pPr>
            <a:r>
              <a:t>Additional vector stores (Pinecone, Weaviate, Qdrant)</a:t>
            </a:r>
          </a:p>
          <a:p>
            <a:pPr lvl="1">
              <a:spcAft>
                <a:spcPts val="200"/>
              </a:spcAft>
              <a:defRPr sz="1000">
                <a:solidFill>
                  <a:srgbClr val="323232"/>
                </a:solidFill>
              </a:defRPr>
            </a:pPr>
            <a:r>
              <a:t>Advanced caching strategies (semantic caching)</a:t>
            </a:r>
          </a:p>
          <a:p>
            <a:pPr lvl="1">
              <a:spcAft>
                <a:spcPts val="200"/>
              </a:spcAft>
              <a:defRPr sz="1000">
                <a:solidFill>
                  <a:srgbClr val="323232"/>
                </a:solidFill>
              </a:defRPr>
            </a:pPr>
            <a:r>
              <a:t>LLM provider expansion (OpenAI, Anthropic, Cohere APIs)</a:t>
            </a:r>
          </a:p>
          <a:p>
            <a:pPr>
              <a:spcBef>
                <a:spcPts val="800"/>
              </a:spcBef>
              <a:defRPr sz="1200" b="1">
                <a:solidFill>
                  <a:srgbClr val="107C10"/>
                </a:solidFill>
              </a:defRPr>
            </a:pPr>
            <a:r>
              <a:t>Q3 2026 - Advanced Agent Capabilities</a:t>
            </a:r>
          </a:p>
          <a:p>
            <a:pPr lvl="1">
              <a:spcAft>
                <a:spcPts val="200"/>
              </a:spcAft>
              <a:defRPr sz="1000">
                <a:solidFill>
                  <a:srgbClr val="323232"/>
                </a:solidFill>
              </a:defRPr>
            </a:pPr>
            <a:r>
              <a:t>Multi-agent orchestration templates</a:t>
            </a:r>
          </a:p>
          <a:p>
            <a:pPr lvl="1">
              <a:spcAft>
                <a:spcPts val="200"/>
              </a:spcAft>
              <a:defRPr sz="1000">
                <a:solidFill>
                  <a:srgbClr val="323232"/>
                </a:solidFill>
              </a:defRPr>
            </a:pPr>
            <a:r>
              <a:t>Human-in-the-loop patterns and approval workflows</a:t>
            </a:r>
          </a:p>
          <a:p>
            <a:pPr lvl="1">
              <a:spcAft>
                <a:spcPts val="200"/>
              </a:spcAft>
              <a:defRPr sz="1000">
                <a:solidFill>
                  <a:srgbClr val="323232"/>
                </a:solidFill>
              </a:defRPr>
            </a:pPr>
            <a:r>
              <a:t>Agent memory systems (conversation history, long-term storage)</a:t>
            </a:r>
          </a:p>
          <a:p>
            <a:pPr lvl="1">
              <a:spcAft>
                <a:spcPts val="200"/>
              </a:spcAft>
              <a:defRPr sz="1000">
                <a:solidFill>
                  <a:srgbClr val="323232"/>
                </a:solidFill>
              </a:defRPr>
            </a:pPr>
            <a:r>
              <a:t>Streaming response support for real-time applications</a:t>
            </a:r>
          </a:p>
          <a:p>
            <a:pPr>
              <a:spcBef>
                <a:spcPts val="800"/>
              </a:spcBef>
              <a:defRPr sz="1200" b="1">
                <a:solidFill>
                  <a:srgbClr val="107C10"/>
                </a:solidFill>
              </a:defRPr>
            </a:pPr>
            <a:r>
              <a:t>Q4 2026 - Enterprise Features</a:t>
            </a:r>
          </a:p>
          <a:p>
            <a:pPr lvl="1">
              <a:spcAft>
                <a:spcPts val="200"/>
              </a:spcAft>
              <a:defRPr sz="1000">
                <a:solidFill>
                  <a:srgbClr val="323232"/>
                </a:solidFill>
              </a:defRPr>
            </a:pPr>
            <a:r>
              <a:t>Advanced monitoring and alerting (Prometheus, Grafana)</a:t>
            </a:r>
          </a:p>
          <a:p>
            <a:pPr lvl="1">
              <a:spcAft>
                <a:spcPts val="200"/>
              </a:spcAft>
              <a:defRPr sz="1000">
                <a:solidFill>
                  <a:srgbClr val="323232"/>
                </a:solidFill>
              </a:defRPr>
            </a:pPr>
            <a:r>
              <a:t>A/B testing framework for prompt optimization</a:t>
            </a:r>
          </a:p>
          <a:p>
            <a:pPr lvl="1">
              <a:spcAft>
                <a:spcPts val="200"/>
              </a:spcAft>
              <a:defRPr sz="1000">
                <a:solidFill>
                  <a:srgbClr val="323232"/>
                </a:solidFill>
              </a:defRPr>
            </a:pPr>
            <a:r>
              <a:t>Cost optimization tools and LLM usage analytics</a:t>
            </a:r>
          </a:p>
          <a:p>
            <a:pPr lvl="1">
              <a:spcAft>
                <a:spcPts val="200"/>
              </a:spcAft>
              <a:defRPr sz="1000">
                <a:solidFill>
                  <a:srgbClr val="323232"/>
                </a:solidFill>
              </a:defRPr>
            </a:pPr>
            <a:r>
              <a:t>Kubernetes deployment templates and CI/CD pipelines</a:t>
            </a:r>
          </a:p>
          <a:p>
            <a:pPr>
              <a:spcBef>
                <a:spcPts val="800"/>
              </a:spcBef>
              <a:defRPr sz="1200" b="1">
                <a:solidFill>
                  <a:srgbClr val="107C10"/>
                </a:solidFill>
              </a:defRPr>
            </a:pPr>
            <a:r>
              <a:t>2027 - Platform Evolution</a:t>
            </a:r>
          </a:p>
          <a:p>
            <a:pPr lvl="1">
              <a:spcAft>
                <a:spcPts val="200"/>
              </a:spcAft>
              <a:defRPr sz="1000">
                <a:solidFill>
                  <a:srgbClr val="323232"/>
                </a:solidFill>
              </a:defRPr>
            </a:pPr>
            <a:r>
              <a:t>Visual agent builder (low-code interface)</a:t>
            </a:r>
          </a:p>
          <a:p>
            <a:pPr lvl="1">
              <a:spcAft>
                <a:spcPts val="200"/>
              </a:spcAft>
              <a:defRPr sz="1000">
                <a:solidFill>
                  <a:srgbClr val="323232"/>
                </a:solidFill>
              </a:defRPr>
            </a:pPr>
            <a:r>
              <a:t>Agent marketplace for sharing reusable components</a:t>
            </a:r>
          </a:p>
          <a:p>
            <a:pPr lvl="1">
              <a:spcAft>
                <a:spcPts val="200"/>
              </a:spcAft>
              <a:defRPr sz="1000">
                <a:solidFill>
                  <a:srgbClr val="323232"/>
                </a:solidFill>
              </a:defRPr>
            </a:pPr>
            <a:r>
              <a:t>Production deployment automation</a:t>
            </a:r>
          </a:p>
          <a:p>
            <a:pPr lvl="1">
              <a:spcAft>
                <a:spcPts val="200"/>
              </a:spcAft>
              <a:defRPr sz="1000">
                <a:solidFill>
                  <a:srgbClr val="323232"/>
                </a:solidFill>
              </a:defRPr>
            </a:pPr>
            <a:r>
              <a:t>SaaS offering for managed agent hosting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731520"/>
          </a:xfrm>
          <a:prstGeom prst="rect">
            <a:avLst/>
          </a:prstGeom>
          <a:noFill/>
        </p:spPr>
        <p:txBody>
          <a:bodyPr wrap="none">
            <a:spAutoFit/>
          </a:bodyPr>
          <a:lstStyle/>
          <a:p>
            <a:pPr>
              <a:defRPr sz="2800" b="1">
                <a:solidFill>
                  <a:srgbClr val="0078D4"/>
                </a:solidFill>
              </a:defRPr>
            </a:pPr>
            <a:r>
              <a:t>Business Benefits &amp; ROI</a:t>
            </a:r>
          </a:p>
        </p:txBody>
      </p:sp>
      <p:sp>
        <p:nvSpPr>
          <p:cNvPr id="3" name="Rectangle 2"/>
          <p:cNvSpPr/>
          <p:nvPr/>
        </p:nvSpPr>
        <p:spPr>
          <a:xfrm>
            <a:off x="457200" y="1188720"/>
            <a:ext cx="8229600" cy="1828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011680"/>
            <a:ext cx="1828800"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FFFFFF"/>
                </a:solidFill>
              </a:defRPr>
            </a:pPr>
            <a:r>
              <a:t>87%</a:t>
            </a:r>
          </a:p>
          <a:p>
            <a:pPr algn="ctr">
              <a:defRPr sz="1400" b="1">
                <a:solidFill>
                  <a:srgbClr val="FFFFFF"/>
                </a:solidFill>
              </a:defRPr>
            </a:pPr>
            <a:r>
              <a:t>Faster Setup</a:t>
            </a:r>
          </a:p>
          <a:p>
            <a:pPr algn="ctr">
              <a:spcBef>
                <a:spcPts val="400"/>
              </a:spcBef>
              <a:defRPr sz="1000">
                <a:solidFill>
                  <a:srgbClr val="DCF0FF"/>
                </a:solidFill>
              </a:defRPr>
            </a:pPr>
            <a:r>
              <a:t>15 min → 2 min per project</a:t>
            </a:r>
          </a:p>
        </p:txBody>
      </p:sp>
      <p:sp>
        <p:nvSpPr>
          <p:cNvPr id="5" name="Rectangle 4"/>
          <p:cNvSpPr/>
          <p:nvPr/>
        </p:nvSpPr>
        <p:spPr>
          <a:xfrm>
            <a:off x="2697480" y="2011680"/>
            <a:ext cx="1828800"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FFFFFF"/>
                </a:solidFill>
              </a:defRPr>
            </a:pPr>
            <a:r>
              <a:rPr lang="en-US" dirty="0" smtClean="0"/>
              <a:t>75</a:t>
            </a:r>
            <a:r>
              <a:rPr dirty="0" smtClean="0"/>
              <a:t>%+</a:t>
            </a:r>
            <a:endParaRPr dirty="0"/>
          </a:p>
          <a:p>
            <a:pPr algn="ctr">
              <a:defRPr sz="1400" b="1">
                <a:solidFill>
                  <a:srgbClr val="FFFFFF"/>
                </a:solidFill>
              </a:defRPr>
            </a:pPr>
            <a:r>
              <a:rPr dirty="0"/>
              <a:t>Test Coverage</a:t>
            </a:r>
          </a:p>
          <a:p>
            <a:pPr algn="ctr">
              <a:spcBef>
                <a:spcPts val="400"/>
              </a:spcBef>
              <a:defRPr sz="1000">
                <a:solidFill>
                  <a:srgbClr val="DCF0FF"/>
                </a:solidFill>
              </a:defRPr>
            </a:pPr>
            <a:r>
              <a:rPr dirty="0"/>
              <a:t>Quality assurance enforced</a:t>
            </a:r>
          </a:p>
        </p:txBody>
      </p:sp>
      <p:sp>
        <p:nvSpPr>
          <p:cNvPr id="6" name="Rectangle 5"/>
          <p:cNvSpPr/>
          <p:nvPr/>
        </p:nvSpPr>
        <p:spPr>
          <a:xfrm>
            <a:off x="4709160" y="2011680"/>
            <a:ext cx="1828800"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FFFFFF"/>
                </a:solidFill>
              </a:defRPr>
            </a:pPr>
            <a:r>
              <a:t>10x</a:t>
            </a:r>
          </a:p>
          <a:p>
            <a:pPr algn="ctr">
              <a:defRPr sz="1400" b="1">
                <a:solidFill>
                  <a:srgbClr val="FFFFFF"/>
                </a:solidFill>
              </a:defRPr>
            </a:pPr>
            <a:r>
              <a:t>Package Speed</a:t>
            </a:r>
          </a:p>
          <a:p>
            <a:pPr algn="ctr">
              <a:spcBef>
                <a:spcPts val="400"/>
              </a:spcBef>
              <a:defRPr sz="1000">
                <a:solidFill>
                  <a:srgbClr val="DCF0FF"/>
                </a:solidFill>
              </a:defRPr>
            </a:pPr>
            <a:r>
              <a:t>uv vs traditional pip</a:t>
            </a:r>
          </a:p>
        </p:txBody>
      </p:sp>
      <p:sp>
        <p:nvSpPr>
          <p:cNvPr id="7" name="Rectangle 6"/>
          <p:cNvSpPr/>
          <p:nvPr/>
        </p:nvSpPr>
        <p:spPr>
          <a:xfrm>
            <a:off x="6720840" y="2011680"/>
            <a:ext cx="1828800"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FFFFFF"/>
                </a:solidFill>
              </a:defRPr>
            </a:pPr>
            <a:r>
              <a:t>Zero</a:t>
            </a:r>
          </a:p>
          <a:p>
            <a:pPr algn="ctr">
              <a:defRPr sz="1400" b="1">
                <a:solidFill>
                  <a:srgbClr val="FFFFFF"/>
                </a:solidFill>
              </a:defRPr>
            </a:pPr>
            <a:r>
              <a:t>Boilerplate</a:t>
            </a:r>
          </a:p>
          <a:p>
            <a:pPr algn="ctr">
              <a:spcBef>
                <a:spcPts val="400"/>
              </a:spcBef>
              <a:defRPr sz="1000">
                <a:solidFill>
                  <a:srgbClr val="DCF0FF"/>
                </a:solidFill>
              </a:defRPr>
            </a:pPr>
            <a:r>
              <a:t>Auto-generated scaffolding</a:t>
            </a:r>
          </a:p>
        </p:txBody>
      </p:sp>
      <p:sp>
        <p:nvSpPr>
          <p:cNvPr id="8" name="TextBox 7"/>
          <p:cNvSpPr txBox="1"/>
          <p:nvPr/>
        </p:nvSpPr>
        <p:spPr>
          <a:xfrm>
            <a:off x="731520" y="3657600"/>
            <a:ext cx="7680960" cy="2286000"/>
          </a:xfrm>
          <a:prstGeom prst="rect">
            <a:avLst/>
          </a:prstGeom>
          <a:noFill/>
        </p:spPr>
        <p:txBody>
          <a:bodyPr wrap="square">
            <a:spAutoFit/>
          </a:bodyPr>
          <a:lstStyle/>
          <a:p>
            <a:pPr>
              <a:spcAft>
                <a:spcPts val="800"/>
              </a:spcAft>
              <a:defRPr sz="1600" b="1">
                <a:solidFill>
                  <a:srgbClr val="107C10"/>
                </a:solidFill>
              </a:defRPr>
            </a:pPr>
            <a:r>
              <a:t>Strategic Business Impact &amp; Measurable ROI</a:t>
            </a:r>
          </a:p>
          <a:p>
            <a:pPr>
              <a:spcAft>
                <a:spcPts val="400"/>
              </a:spcAft>
              <a:defRPr sz="1100">
                <a:solidFill>
                  <a:srgbClr val="323232"/>
                </a:solidFill>
              </a:defRPr>
            </a:pPr>
            <a:r>
              <a:t>💰 Revenue Acceleration: Launch AI-powered products 87% faster—capture market opportunities before competitors</a:t>
            </a:r>
          </a:p>
          <a:p>
            <a:pPr>
              <a:spcAft>
                <a:spcPts val="400"/>
              </a:spcAft>
              <a:defRPr sz="1100">
                <a:solidFill>
                  <a:srgbClr val="323232"/>
                </a:solidFill>
              </a:defRPr>
            </a:pPr>
            <a:r>
              <a:t>📉 Cost Optimization: Eliminate 13 minutes of setup per project × 50 projects/year = 650 minutes saved per engineer</a:t>
            </a:r>
          </a:p>
          <a:p>
            <a:pPr>
              <a:spcAft>
                <a:spcPts val="400"/>
              </a:spcAft>
              <a:defRPr sz="1100">
                <a:solidFill>
                  <a:srgbClr val="323232"/>
                </a:solidFill>
              </a:defRPr>
            </a:pPr>
            <a:r>
              <a:t>🎯 Quality at Scale: 90% test coverage eliminates costly production incidents and emergency hotfixes</a:t>
            </a:r>
          </a:p>
          <a:p>
            <a:pPr>
              <a:spcAft>
                <a:spcPts val="400"/>
              </a:spcAft>
              <a:defRPr sz="1100">
                <a:solidFill>
                  <a:srgbClr val="323232"/>
                </a:solidFill>
              </a:defRPr>
            </a:pPr>
            <a:r>
              <a:t>🔒 Risk Mitigation: Enterprise security (Vault, rate limiting, audit trails) ensures compliance and reduces breach exposure</a:t>
            </a:r>
          </a:p>
          <a:p>
            <a:pPr>
              <a:spcAft>
                <a:spcPts val="400"/>
              </a:spcAft>
              <a:defRPr sz="1100">
                <a:solidFill>
                  <a:srgbClr val="323232"/>
                </a:solidFill>
              </a:defRPr>
            </a:pPr>
            <a:r>
              <a:t>🚀 Innovation Velocity: Engineers focus on differentiated business logic, not commodity infrastructure</a:t>
            </a:r>
          </a:p>
          <a:p>
            <a:pPr>
              <a:spcAft>
                <a:spcPts val="400"/>
              </a:spcAft>
              <a:defRPr sz="1100">
                <a:solidFill>
                  <a:srgbClr val="323232"/>
                </a:solidFill>
              </a:defRPr>
            </a:pPr>
            <a:r>
              <a:t>📊 Organizational Capability: Standardization enables knowledge transfer—reduce dependency on individual experts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7315200" cy="914400"/>
          </a:xfrm>
          <a:prstGeom prst="rect">
            <a:avLst/>
          </a:prstGeom>
          <a:noFill/>
        </p:spPr>
        <p:txBody>
          <a:bodyPr wrap="none">
            <a:spAutoFit/>
          </a:bodyPr>
          <a:lstStyle/>
          <a:p>
            <a:pPr algn="ctr">
              <a:defRPr sz="3600" b="1">
                <a:solidFill>
                  <a:srgbClr val="FFFFFF"/>
                </a:solidFill>
              </a:defRPr>
            </a:pPr>
            <a:r>
              <a:t>Strategic Action Plan</a:t>
            </a:r>
          </a:p>
        </p:txBody>
      </p:sp>
      <p:sp>
        <p:nvSpPr>
          <p:cNvPr id="4" name="TextBox 3"/>
          <p:cNvSpPr txBox="1"/>
          <p:nvPr/>
        </p:nvSpPr>
        <p:spPr>
          <a:xfrm>
            <a:off x="1371600" y="3200400"/>
            <a:ext cx="6400800" cy="2743200"/>
          </a:xfrm>
          <a:prstGeom prst="rect">
            <a:avLst/>
          </a:prstGeom>
          <a:noFill/>
        </p:spPr>
        <p:txBody>
          <a:bodyPr wrap="square">
            <a:spAutoFit/>
          </a:bodyPr>
          <a:lstStyle/>
          <a:p>
            <a:pPr>
              <a:spcAft>
                <a:spcPts val="1200"/>
              </a:spcAft>
              <a:defRPr sz="1400">
                <a:solidFill>
                  <a:srgbClr val="FFFFFF"/>
                </a:solidFill>
              </a:defRPr>
            </a:pPr>
            <a:r>
              <a:t>1. Pilot Selection (Week 1): Identify high-impact use case aligned with strategic initiatives</a:t>
            </a:r>
          </a:p>
          <a:p>
            <a:pPr>
              <a:spcAft>
                <a:spcPts val="1200"/>
              </a:spcAft>
              <a:defRPr sz="1400">
                <a:solidFill>
                  <a:srgbClr val="FFFFFF"/>
                </a:solidFill>
              </a:defRPr>
            </a:pPr>
            <a:r>
              <a:t>2. Team Enablement (Week 2): Intensive 2-day workshop on framework, LangChain, and best practices</a:t>
            </a:r>
          </a:p>
          <a:p>
            <a:pPr>
              <a:spcAft>
                <a:spcPts val="1200"/>
              </a:spcAft>
              <a:defRPr sz="1400">
                <a:solidFill>
                  <a:srgbClr val="FFFFFF"/>
                </a:solidFill>
              </a:defRPr>
            </a:pPr>
            <a:r>
              <a:t>3. Infrastructure Activation (Week 2): Deploy Ollama, Vault, and observability stack</a:t>
            </a:r>
          </a:p>
          <a:p>
            <a:pPr>
              <a:spcAft>
                <a:spcPts val="1200"/>
              </a:spcAft>
              <a:defRPr sz="1400">
                <a:solidFill>
                  <a:srgbClr val="FFFFFF"/>
                </a:solidFill>
              </a:defRPr>
            </a:pPr>
            <a:r>
              <a:t>4. Rapid Prototyping (Weeks 3-6): Build 3-5 production agents with 87% faster velocity</a:t>
            </a:r>
          </a:p>
          <a:p>
            <a:pPr>
              <a:spcAft>
                <a:spcPts val="1200"/>
              </a:spcAft>
              <a:defRPr sz="1400">
                <a:solidFill>
                  <a:srgbClr val="FFFFFF"/>
                </a:solidFill>
              </a:defRPr>
            </a:pPr>
            <a:r>
              <a:t>5. Business Validation (Week 7): Measure ROI, capture lessons, scale successful patterns</a:t>
            </a:r>
          </a:p>
        </p:txBody>
      </p:sp>
      <p:sp>
        <p:nvSpPr>
          <p:cNvPr id="5" name="TextBox 4"/>
          <p:cNvSpPr txBox="1"/>
          <p:nvPr/>
        </p:nvSpPr>
        <p:spPr>
          <a:xfrm>
            <a:off x="914400" y="5943600"/>
            <a:ext cx="7315200" cy="731520"/>
          </a:xfrm>
          <a:prstGeom prst="rect">
            <a:avLst/>
          </a:prstGeom>
          <a:noFill/>
        </p:spPr>
        <p:txBody>
          <a:bodyPr wrap="none">
            <a:spAutoFit/>
          </a:bodyPr>
          <a:lstStyle/>
          <a:p>
            <a:pPr algn="ctr">
              <a:defRPr sz="1300" i="1">
                <a:solidFill>
                  <a:srgbClr val="DCFFDC"/>
                </a:solidFill>
              </a:defRPr>
            </a:pPr>
            <a:r>
              <a:t>The future of AI development isn't about working harder—it's about working smarter.</a:t>
            </a:r>
          </a:p>
          <a:p>
            <a:r>
              <a:t>Let's accelerate your organization's AI transformation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1934</Words>
  <Application>Microsoft Office PowerPoint</Application>
  <PresentationFormat>On-screen Show (4:3)</PresentationFormat>
  <Paragraphs>252</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vsrivastava</cp:lastModifiedBy>
  <cp:revision>3</cp:revision>
  <dcterms:created xsi:type="dcterms:W3CDTF">2013-01-27T09:14:16Z</dcterms:created>
  <dcterms:modified xsi:type="dcterms:W3CDTF">2026-05-11T13:21:18Z</dcterms:modified>
  <cp:category/>
</cp:coreProperties>
</file>